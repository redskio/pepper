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914400" cy="685800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31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AFF"/>
                </a:solidFill>
                <a:latin typeface="Malgun Gothic"/>
              </a:rPr>
              <a:t>PROJECT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algun Gothic"/>
              </a:rPr>
              <a:t>위어드섹터 ×
MBC 모다이브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00AAFF"/>
                </a:solidFill>
                <a:latin typeface="Malgun Gothic"/>
              </a:rPr>
              <a:t>데이터 · 코드 · MarTech · CRM
통합 운영 파트너십 제안서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389120"/>
            <a:ext cx="59436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제안사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위어드섹터 (WeirdSector)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고객사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MBC 모다이브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2026. 04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AFF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828800"/>
            <a:ext cx="4114800" cy="96012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1828800"/>
            <a:ext cx="54864" cy="960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90195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월 200만원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377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M/M 예산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926080"/>
            <a:ext cx="4114800" cy="96012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2926080"/>
            <a:ext cx="54864" cy="960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299923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4가지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474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핵심 서비스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023360"/>
            <a:ext cx="4114800" cy="96012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023360"/>
            <a:ext cx="54864" cy="960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409651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즉시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572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시작 가능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5120640"/>
            <a:ext cx="4114800" cy="96012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5120640"/>
            <a:ext cx="54864" cy="960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193792"/>
            <a:ext cx="3657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</a:rPr>
              <a:t>전담팀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669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전문가 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한 눈에 보는 제안 핵심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02/12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AAFF"/>
                </a:solidFill>
                <a:latin typeface="Malgun Gothic"/>
              </a:rPr>
              <a:t>이 제안서 한 장으로 이해하는 위어드섹터의 가치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20240"/>
            <a:ext cx="3703320" cy="42062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3703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933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algun Gothic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왜 지금인가?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46120"/>
            <a:ext cx="27432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MBC 모다이브가 빠르게 성장하는 OTT 경쟁 시장에서 살아남으려면
데이터 기반 마케팅과 정교한 CRM이 필수입니다.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920240"/>
            <a:ext cx="3703320" cy="42062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920240"/>
            <a:ext cx="3703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9933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algun Gothic"/>
              </a:rPr>
              <a:t>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무엇을 제안하나?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6592" y="3246120"/>
            <a:ext cx="27432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3383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데이터 관리 · 코드 관리 · MarTech 운영 · CRM 수행
4가지 서비스를 월 200만원으로 통합 제공합니다.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1920240"/>
            <a:ext cx="3703320" cy="42062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1920240"/>
            <a:ext cx="370332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19933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algun Gothic"/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6974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</a:rPr>
              <a:t>기대 효과는?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50224" y="3246120"/>
            <a:ext cx="274320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904" y="33832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사용자 이탈률 감소, 재방문율 증가, 캠페인 효율 향상,
데이터 기반 콘텐츠 추천 고도화를 실현합니다.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MBC 모다이브의 현재 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성장하는 OTT 시장에서 해결해야 할 문제들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03/12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AAFF"/>
                </a:solidFill>
                <a:latin typeface="Malgun Gothic"/>
              </a:rPr>
              <a:t>이미 좋은 콘텐츠가 있습니다. 문제는 마케팅과 데이터입니다.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2024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3749039" cy="4572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11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데이터 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786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시청 데이터, 유입 데이터, CRM 데이터가 각각 분리되어 통합 분석이 불가합니다.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92024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920240"/>
            <a:ext cx="3749039" cy="4572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채널 단절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786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Push, 이메일, SMS, 인앱 메시지가 개별로 운영되어 일관된 사용자 경험이 없습니다.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92024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920240"/>
            <a:ext cx="3749039" cy="4572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011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개인화 부재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57860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모든 사용자에게 동일한 콘텐츠 추천 — 높은 이탈률의 핵심 원인입니다.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6908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3749039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60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기술 부채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72744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레거시 코드와 트래킹 오류로 정확한 데이터 수집 자체가 어려운 상황입니다.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06908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069080"/>
            <a:ext cx="3749039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160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마케팅 비효율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72744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ROI 측정 없는 광고 집행, 캠페인 효과 검증 불가로 예산이 낭비됩니다.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4069080"/>
            <a:ext cx="3749039" cy="1993392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069080"/>
            <a:ext cx="3749039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1605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빠른 경쟁자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727448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넷플릭스·티빙·웨이브의 AI 개인화 속도에 비해 대응이 늦어지고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위어드섹터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MarTech × 데이터 × CRM 전문 스타트업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04/12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5760720" cy="521208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25880"/>
            <a:ext cx="64008" cy="52120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630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DCEC"/>
                </a:solidFill>
                <a:latin typeface="Malgun Gothic"/>
              </a:rPr>
              <a:t>데이터 기반 마케팅의 실행 파트너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606040"/>
            <a:ext cx="521208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788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마테크(MarTech), 데이터 분석, CRM 자동화 전문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55848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3558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고객사의 기술 스택에 맞춘 맞춤형 솔루션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922776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92277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기획 → 구현 → 운영 → 성과 측정 Full-cycle 수행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89704"/>
            <a:ext cx="320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6CC"/>
                </a:solidFill>
                <a:latin typeface="Malgun Gothic"/>
              </a:rPr>
              <a:t>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48970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소수 정예 시니어 팀 — 속도와 품질 모두 보장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371600"/>
            <a:ext cx="2697480" cy="23317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371600"/>
            <a:ext cx="26974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0848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데이터 엔지니어링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514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0"/>
                </a:solidFill>
                <a:latin typeface="Malgun Gothic"/>
              </a:rPr>
              <a:t>GA4 · BigQuery · Segment
데이터 파이프라인 구축 및 운영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1371600"/>
            <a:ext cx="2697480" cy="23317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69748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4630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0848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MarTech 스택 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5146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0"/>
                </a:solidFill>
                <a:latin typeface="Malgun Gothic"/>
              </a:rPr>
              <a:t>Braze · CleverTap · Mixpanel
플랫폼 세팅부터 캠페인까지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3886200"/>
            <a:ext cx="2697480" cy="23317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3886200"/>
            <a:ext cx="26974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977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5994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CRM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0"/>
                </a:solidFill>
                <a:latin typeface="Malgun Gothic"/>
              </a:rPr>
              <a:t>이탈 방지 · 재구독 유도
온보딩 플로우 자동 설계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886200"/>
            <a:ext cx="2697480" cy="23317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3886200"/>
            <a:ext cx="2697480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9776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459943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퍼포먼스 마케팅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02920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0"/>
                </a:solidFill>
                <a:latin typeface="Malgun Gothic"/>
              </a:rPr>
              <a:t>A/B 테스트 · 실험 설계
데이터 기반 ROI 최적화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제안 서비스
4가지 통합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BB0"/>
                </a:solidFill>
                <a:latin typeface="Malgun Gothic"/>
              </a:rPr>
              <a:t>월 200만원으로 운영되는 M/M 방식 — 우선순위 높은 작업부터 순차 수행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269748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6CC"/>
                </a:solidFill>
                <a:latin typeface="Malgun Gothi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algun Gothic"/>
              </a:rPr>
              <a:t>데이터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GA4 · 데이터 파이프라인 · 트래킹 설계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11480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4114800"/>
            <a:ext cx="269748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645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algun Gothic"/>
              </a:rPr>
              <a:t>코드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5166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태그매니저 · SDK 연동 · 기술 부채 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11480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114800"/>
            <a:ext cx="269748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8A"/>
                </a:solidFill>
                <a:latin typeface="Malgun Gothi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45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algun Gothic"/>
              </a:rPr>
              <a:t>MarTech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166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클레버탭 · 브레이즈 · 자동화 플로우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114800"/>
            <a:ext cx="2697480" cy="2377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4114800"/>
            <a:ext cx="2697480" cy="54864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4224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2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645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Malgun Gothic"/>
              </a:rPr>
              <a:t>CRM 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51663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이탈 방지 · 재구독 · 고객 세그먼트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제안 서비스 ① · 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데이터 관리 &amp; 코드 관리 — 정확한 데이터가 모든 것의 시작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06/12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5486400" cy="6400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371600"/>
            <a:ext cx="64008" cy="51206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813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AAFF"/>
                </a:solidFill>
                <a:latin typeface="Malgun Gothic"/>
              </a:rPr>
              <a:t>01  데이터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정확한 데이터 수집 · 관리 · 분석 환경 구축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609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GA4 이벤트 설계 및 구조 재설계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278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82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BigQuery 연동 데이터 파이프라인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8496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04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모다이브 전용 대시보드 세팅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47141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26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데이터 품질 점검 및 오류 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932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48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주요 KPI 정의 및 트래킹 체계 수립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137160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371600"/>
            <a:ext cx="5486400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1371600"/>
            <a:ext cx="64008" cy="51206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14813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E5FF"/>
                </a:solidFill>
                <a:latin typeface="Malgun Gothic"/>
              </a:rPr>
              <a:t>02  코드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0299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GTM 최적화 · SDK 연동 · 기술 부채 해소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6060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6609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구글 태그매니저(GTM) 전면 재구성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278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282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앱 SDK(Firebase, AppsFlyer 등) 연동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8496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90448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기존 레거시 트래킹 코드 정리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47141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262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개인정보보호법 준수 데이터 설계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0932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latin typeface="Malgun Gothic"/>
              </a:rPr>
              <a:t>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1480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DCEC"/>
                </a:solidFill>
                <a:latin typeface="Malgun Gothic"/>
              </a:rPr>
              <a:t>기술 문서화 및 인수인계 가이드 작성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제안 서비스 ③ — MarTech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자동화된 마케팅 플로우로 사용자 전환율을 높입니다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07/12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8A"/>
                </a:solidFill>
                <a:latin typeface="Malgun Gothic"/>
              </a:rPr>
              <a:t>도구가 아니라 전략입니다 — 올바른 사람에게, 올바른 시간에, 올바른 메시지를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20240"/>
            <a:ext cx="3749039" cy="452628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3749039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9339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8A"/>
                </a:solidFill>
                <a:latin typeface="Malgun Gothic"/>
              </a:rPr>
              <a:t>플랫폼 세팅 &amp; 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82112"/>
            <a:ext cx="301752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10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CleverTap / Braze SDK 연동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이벤트 매핑 및 사용자 속성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622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세그먼트 구조 설계 (정적/동적)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38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대시보드 및 리포트 설정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1920240"/>
            <a:ext cx="3749039" cy="452628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1920240"/>
            <a:ext cx="3749039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199339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66CC"/>
                </a:solidFill>
                <a:latin typeface="Malgun Gothic"/>
              </a:rPr>
              <a:t>자동화 캠페인 설계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3182112"/>
            <a:ext cx="301752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2" y="3310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온보딩 웰컴 플로우 구축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886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이탈 방지 리텐션 캠페인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4622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재구독 유도 Win-back 시퀀스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5038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행동 기반 트리거 메시지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1920240"/>
            <a:ext cx="3749039" cy="452628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4" y="1920240"/>
            <a:ext cx="3749039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199339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75904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algun Gothic"/>
              </a:rPr>
              <a:t>채널별 최적화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58784" y="3182112"/>
            <a:ext cx="30175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331012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Push 알림 개인화 (콘텐츠 추천)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38862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인앱 메시지 &amp; 팝업 설계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75904" y="44622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이메일 뉴스레터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5904" y="50383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CEC"/>
                </a:solidFill>
                <a:latin typeface="Malgun Gothic"/>
              </a:rPr>
              <a:t>▸  A/B 테스트 &amp; 성과 측정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제안 서비스 ④ — CRM 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고객 데이터로 이탈을 막고 재방문을 만드는 정밀 운영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08/12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5760720" cy="51206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5760720" cy="54864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5087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A2F"/>
                </a:solidFill>
                <a:latin typeface="Malgun Gothic"/>
              </a:rPr>
              <a:t>CRM 수행 프레임워크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48840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40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데이터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585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행동 데이터 · 구독 이력 · 콘텐츠 선호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95351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7A2F"/>
                </a:solidFill>
                <a:latin typeface="Malgun Gothic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35808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2724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1272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세그먼트 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14553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이탈 위험군 · 고가치 · 신규 · 휴면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38404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7A2F"/>
                </a:solidFill>
                <a:latin typeface="Malgun Gothic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922776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142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0142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개인화 전략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03250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세그먼트별 맞춤 메시지 &amp; 타이밍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7274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7A2F"/>
                </a:solidFill>
                <a:latin typeface="Malgun Gothic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09744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01184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9011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자동화 발송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91947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Push · 이메일 · SMS · 인앱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61441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7A2F"/>
                </a:solidFill>
                <a:latin typeface="Malgun Gothic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5696712"/>
            <a:ext cx="5303520" cy="7772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8815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788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성과 측정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806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전환율 · 이탈률 · LTV 지표 분석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1371600"/>
            <a:ext cx="5486400" cy="51206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1371600"/>
            <a:ext cx="5486400" cy="54864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15087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7A2F"/>
                </a:solidFill>
                <a:latin typeface="Malgun Gothic"/>
              </a:rPr>
              <a:t>CRM 도입 기대 효과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37960" y="2148840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37960" y="2148840"/>
            <a:ext cx="54864" cy="96012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222199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7A2F"/>
                </a:solidFill>
                <a:latin typeface="Malgun Gothic"/>
              </a:rPr>
              <a:t>-35%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25856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이탈률 감소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651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리텐션 캠페인 효과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3227832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37960" y="3227832"/>
            <a:ext cx="54864" cy="9601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30098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D48A"/>
                </a:solidFill>
                <a:latin typeface="Malgun Gothic"/>
              </a:rPr>
              <a:t>+42%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3375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재방문율 향상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7307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Win-back 캠페인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37960" y="4306824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37960" y="4306824"/>
            <a:ext cx="54864" cy="96012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437997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AAFF"/>
                </a:solidFill>
                <a:latin typeface="Malgun Gothic"/>
              </a:rPr>
              <a:t>+28%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41655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구독 전환율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8097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개인화 추천 효과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37960" y="5385816"/>
            <a:ext cx="5029200" cy="96012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37960" y="5385816"/>
            <a:ext cx="54864" cy="9601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545896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5FF"/>
                </a:solidFill>
                <a:latin typeface="Malgun Gothic"/>
              </a:rPr>
              <a:t>2.5배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5495544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LTV 증가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58887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0"/>
                </a:solidFill>
                <a:latin typeface="Malgun Gothic"/>
              </a:rPr>
              <a:t>CRM 자동화 6개월 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M/M 운영 방식 &amp; 예산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월 200만원으로 전담 팀이 움직입니다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09/12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37160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AAFF"/>
                </a:solidFill>
                <a:latin typeface="Malgun Gothic"/>
              </a:rPr>
              <a:t>월 200만원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48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0"/>
                </a:solidFill>
                <a:latin typeface="Malgun Gothic"/>
              </a:rPr>
              <a:t>M/M(Man-Month) 기반 통합 운영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633472"/>
            <a:ext cx="5760720" cy="36576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5778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71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우선순위 기반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0156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매월 초 작업 목록 조율 → 우선순위 합의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834640"/>
            <a:ext cx="55778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971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투명한 리포팅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40156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주간 진행 보고 + 월간 성과 리포트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4805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55778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유연한 조정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04748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비즈니스 변화에 따라 서비스 비율 조정 가능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4805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480560"/>
            <a:ext cx="557784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4617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algun Gothic"/>
              </a:rPr>
              <a:t>즉각적인 소통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504748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전담 슬랙 채널 + 정기 미팅 (격주)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기대 효과 &amp;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위어드섹터와 함께라면 이 숫자가 현실이 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10/12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A9BB0"/>
                </a:solidFill>
                <a:latin typeface="Malgun Gothic"/>
              </a:rPr>
              <a:t>6개월 집중 운영 후 예상 성과 — 글로벌 OTT 플랫폼 평균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2024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3703320" cy="54864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786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7A2F"/>
                </a:solidFill>
                <a:latin typeface="Malgun Gothic"/>
              </a:rPr>
              <a:t>-35%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사용자 이탈률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리텐션 캠페인 효과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192024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9392" y="1920240"/>
            <a:ext cx="370332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5786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8A"/>
                </a:solidFill>
                <a:latin typeface="Malgun Gothic"/>
              </a:rPr>
              <a:t>+42%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재방문율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개인화 추천 콘텐츠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4" y="192024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4" y="1920240"/>
            <a:ext cx="3703320" cy="54864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20116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25786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AAFF"/>
                </a:solidFill>
                <a:latin typeface="Malgun Gothic"/>
              </a:rPr>
              <a:t>3.5배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32461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캠페인 ROI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자동화 마케팅 적용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25196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251960"/>
            <a:ext cx="370332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910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E5FF"/>
                </a:solidFill>
                <a:latin typeface="Malgun Gothic"/>
              </a:rPr>
              <a:t>60%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운영 시간 절감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자동화 플로우 구축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79392" y="425196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9392" y="4251960"/>
            <a:ext cx="3703320" cy="54864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2272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4910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7A2F"/>
                </a:solidFill>
                <a:latin typeface="Malgun Gothic"/>
              </a:rPr>
              <a:t>+28%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2272" y="5577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구독 전환율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CRM 개인화 효과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93024" y="4251960"/>
            <a:ext cx="3703320" cy="21488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93024" y="4251960"/>
            <a:ext cx="3703320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75904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Malgun Gothic"/>
              </a:rPr>
              <a:t>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75904" y="491032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8A"/>
                </a:solidFill>
                <a:latin typeface="Malgun Gothic"/>
              </a:rPr>
              <a:t>95%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5904" y="5577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데이터 정확도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5904" y="5989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트래킹 재설계 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4572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4008" cy="1143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algun Gothic"/>
              </a:rPr>
              <a:t>왜 위어드섹터인가?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713232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0"/>
                </a:solidFill>
                <a:latin typeface="Malgun Gothic"/>
              </a:rPr>
              <a:t>우리가 모다이브에 최적인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457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066CC"/>
                </a:solidFill>
                <a:latin typeface="Malgun Gothic"/>
              </a:rPr>
              <a:t>11/12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73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AAFF"/>
                </a:solidFill>
                <a:latin typeface="Malgun Gothic"/>
              </a:rPr>
              <a:t>WeirdSector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601968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0"/>
                </a:solidFill>
                <a:latin typeface="Malgun Gothic"/>
              </a:rPr>
              <a:t>위어드섹터(WeirdSector)  |  weirdsector.co.kr  |  Confidential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417320"/>
            <a:ext cx="2834640" cy="5486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4630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항목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4173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46304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위어드섹터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4173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463040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일반 대행사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1417320"/>
            <a:ext cx="2834640" cy="548640"/>
          </a:xfrm>
          <a:prstGeom prst="roundRect">
            <a:avLst>
              <a:gd name="adj" fmla="val 5000"/>
            </a:avLst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463040"/>
            <a:ext cx="2788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</a:rPr>
              <a:t>인하우스 채용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029968"/>
            <a:ext cx="11430000" cy="713232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854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전문성 (MarTech + CRM)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2103120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21854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전문 특화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18541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범용적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18541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❌ 육성 필요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79776"/>
            <a:ext cx="11430000" cy="71323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9352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시작 속도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852928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즉시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2~4주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935224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❌ 채용 3개월+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29584"/>
            <a:ext cx="11430000" cy="713232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685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월 비용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3602736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6850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200만원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6850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300~500만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368503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❌ 450만원+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279392"/>
            <a:ext cx="11430000" cy="71323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434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데이터 + 기술 복합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4352544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원스톱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434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별도 필요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4434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파편화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029200"/>
            <a:ext cx="11430000" cy="713232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5184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성과 측정 &amp; 리포팅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5102352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184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체계적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89320" y="51846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기본 수준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518464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⚠ 내부 의존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779008"/>
            <a:ext cx="11430000" cy="713232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9344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유연한 서비스 조정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1840" y="5852160"/>
            <a:ext cx="2560320" cy="566928"/>
          </a:xfrm>
          <a:prstGeom prst="roundRect">
            <a:avLst>
              <a:gd name="adj" fmla="val 5000"/>
            </a:avLst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37560" y="59344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AFF"/>
                </a:solidFill>
                <a:latin typeface="Malgun Gothic"/>
              </a:rPr>
              <a:t>✅ 즉시 가능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59344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❌ 계약 고정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5934456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BB0"/>
                </a:solidFill>
                <a:latin typeface="Malgun Gothic"/>
              </a:rPr>
              <a:t>❌ 재구성 필요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0" y="0"/>
            <a:ext cx="822960" cy="6858000"/>
          </a:xfrm>
          <a:prstGeom prst="rect">
            <a:avLst/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지금 시작하면
다릅니다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9BB0"/>
                </a:solidFill>
                <a:latin typeface="Malgun Gothic"/>
              </a:rPr>
              <a:t>모다이브의 데이터·마케팅·CRM, 위어드섹터가 전담합니다.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6217920" cy="658368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54864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758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AFF"/>
                </a:solidFill>
                <a:latin typeface="Malgun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7588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미팅 &amp; 진단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70332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현황 파악 및 우선순위 협의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6217920" cy="658368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54864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5312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A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5312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킥오프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05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2주 내 팀 배정 &amp; 작업 시작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6217920" cy="658368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54864" cy="65836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3036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AAFF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2303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성과 리뷰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5257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0"/>
                </a:solidFill>
                <a:latin typeface="Malgun Gothic"/>
              </a:rPr>
              <a:t>4주 후 첫 번째 성과 점검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3716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AAFF"/>
                </a:solidFill>
                <a:latin typeface="Malgun Gothic"/>
              </a:rPr>
              <a:t>Contact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201168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6060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웹사이트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9077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weirdsector.co.kr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42900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이메일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32511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hello@weirdsector.co.kr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846320"/>
            <a:ext cx="3840480" cy="1234440"/>
          </a:xfrm>
          <a:prstGeom prst="roundRect">
            <a:avLst>
              <a:gd name="adj" fmla="val 5000"/>
            </a:avLst>
          </a:prstGeom>
          <a:solidFill>
            <a:srgbClr val="13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937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algun Gothic"/>
              </a:rPr>
              <a:t>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5440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0"/>
                </a:solidFill>
                <a:latin typeface="Malgun Gothic"/>
              </a:rPr>
              <a:t>전화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7424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algun Gothic"/>
              </a:rPr>
              <a:t>문의 주시면 바로 연락드립니다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