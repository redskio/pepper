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458200" y="-45720"/>
            <a:ext cx="2286000" cy="22860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189720" y="1143000"/>
            <a:ext cx="3200400" cy="32004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406640" y="4206240"/>
            <a:ext cx="1645920" cy="1645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914400"/>
            <a:ext cx="109728" cy="5486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8686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Pretendard"/>
              </a:rPr>
              <a:t>FINTECH BUSINESS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9144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Pretendard"/>
              </a:rPr>
              <a:t>핀테크 비즈니스 분석 실전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514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94A3B8"/>
                </a:solidFill>
                <a:latin typeface="Pretendard"/>
              </a:rPr>
              <a:t>데이터로 읽는 핀테크
비즈니스 모델 분석부터 대시보드 구축까지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57600"/>
            <a:ext cx="3200400" cy="54864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37033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Pretendard"/>
              </a:rPr>
              <a:t>📅  2026-04-21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3657600"/>
            <a:ext cx="3657600" cy="548640"/>
          </a:xfrm>
          <a:prstGeom prst="rect">
            <a:avLst/>
          </a:prstGeom>
          <a:solidFill>
            <a:srgbClr val="25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80" y="37033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Pretendard"/>
              </a:rPr>
              <a:t>⏱  3시간 강의  |  45 슬라이드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Pretendard"/>
              </a:rPr>
              <a:t>대상: 비즈니스 데이터 분석 실무 입문자  |  도구: Amplitude · Looker Studio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649224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059669"/>
                </a:solidFill>
                <a:latin typeface="Pretendard"/>
              </a:rPr>
              <a:t>HULK × PEPPER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오늘의 여정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Today's Roadmap — 3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64008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1143000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544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563EB"/>
                </a:solidFill>
                <a:latin typeface="Pretendard"/>
              </a:rPr>
              <a:t>Part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56231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오리엔테이션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70992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Pretendard"/>
              </a:rPr>
              <a:t>⏱ 15분  |  0:00 – 0:15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68880"/>
            <a:ext cx="64008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468880"/>
            <a:ext cx="1143000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Pretendard"/>
              </a:rPr>
              <a:t>Part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1635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비즈니스 모델 분석 방법론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67004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Pretendard"/>
              </a:rPr>
              <a:t>⏱ 45분  |  0:15 – 1:00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429000"/>
            <a:ext cx="64008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429000"/>
            <a:ext cx="1143000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47472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97706"/>
                </a:solidFill>
                <a:latin typeface="Pretendard"/>
              </a:rPr>
              <a:t>Part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77647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케이스 스터디 (토스·카카오페이·Stripe)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63016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Pretendard"/>
              </a:rPr>
              <a:t>⏱ 60분  |  1:00 – 2:00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4389120"/>
            <a:ext cx="64008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389120"/>
            <a:ext cx="1143000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43484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  <a:latin typeface="Pretendard"/>
              </a:rPr>
              <a:t>Part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73659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실습: Amplitude &amp; Looker Studio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0" y="4590288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Pretendard"/>
              </a:rPr>
              <a:t>⏱ 60분  |  2:00 – 3:00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349240"/>
            <a:ext cx="64008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5349240"/>
            <a:ext cx="1143000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5394959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  <a:latin typeface="Pretendard"/>
              </a:rPr>
              <a:t>Part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5696712"/>
            <a:ext cx="6858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마무리 &amp; Q&amp;A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550407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94A3B8"/>
                </a:solidFill>
                <a:latin typeface="Pretendard"/>
              </a:rPr>
              <a:t>⏱ 20분  |  2:40 – 3:00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3550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🎯  오늘의 목표: "핀테크 데이터를 보는 눈 장착하기"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2 / 45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88952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Pretendard"/>
              </a:rPr>
              <a:t>PART 1  ·  0:00 – 0:15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retendard"/>
              </a:rPr>
              <a:t>오프닝 &amp; 오리엔테이션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Pretendard"/>
              </a:rPr>
              <a:t>핀테크 데이터 분석의 세계에 오신 것을 환영합니다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3 /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왜 지금 핀테크 데이터 분석인가?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Fintech Market Explosion — Why Data Literacy Matters 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4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2743200" cy="1371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73152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246888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$340B → $1.1T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174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글로벌 핀테크 시장
(2024 → 2030)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1463040"/>
            <a:ext cx="2743200" cy="1371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1463040"/>
            <a:ext cx="731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554480"/>
            <a:ext cx="246888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CAGR 22%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2174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연평균 성장률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463040"/>
            <a:ext cx="2743200" cy="1371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1463040"/>
            <a:ext cx="73152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554480"/>
            <a:ext cx="246888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200조원+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2174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한국 간편결제 연간 거래액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463040"/>
            <a:ext cx="2743200" cy="1371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463040"/>
            <a:ext cx="73152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40" y="1554480"/>
            <a:ext cx="2468880" cy="754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필수 역량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21742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핀테크 PM/마케터의
데이터 리터러시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017520"/>
            <a:ext cx="1152144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127248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3A5F"/>
                </a:solidFill>
                <a:latin typeface="Pretendard"/>
              </a:rPr>
              <a:t>💡  "핀테크 PM/마케터에게 데이터 리터러시는 선택이 아닌 필수"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114800"/>
            <a:ext cx="115214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F2937"/>
                </a:solidFill>
                <a:latin typeface="Pretendard"/>
              </a:rPr>
              <a:t>•  여러분의 서비스에서 오늘 얼마나 많은 결제가 일어났을까요?</a:t>
            </a:r>
          </a:p>
          <a:p>
            <a:pPr algn="l"/>
            <a:r>
              <a:rPr sz="1500">
                <a:solidFill>
                  <a:srgbClr val="1F2937"/>
                </a:solidFill>
                <a:latin typeface="Pretendard"/>
              </a:rPr>
              <a:t>•  그 결제 데이터는 어떤 비즈니스 인사이트를 담고 있을까요?</a:t>
            </a:r>
          </a:p>
          <a:p>
            <a:pPr algn="l"/>
            <a:r>
              <a:rPr sz="1500">
                <a:solidFill>
                  <a:srgbClr val="1F2937"/>
                </a:solidFill>
                <a:latin typeface="Pretendard"/>
              </a:rPr>
              <a:t>•  경쟁사 대비 우리 서비스의 리텐션은 어디에 있을까요?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강의 후 여러분이 할 수 있는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Learning Objectives — 오늘 장착하게 될 역량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5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54864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6459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Pretendard"/>
              </a:rPr>
              <a:t>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1554480"/>
            <a:ext cx="107899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69163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핀테크 비즈니스 모델 유형별로 분류하고 KPI를 정의할 수 있다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68880"/>
            <a:ext cx="54864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2560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Pretendard"/>
              </a:rPr>
              <a:t>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0120" y="2468880"/>
            <a:ext cx="107899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6060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비즈니스 모델 캔버스(BMC)를 핀테크 서비스에 적용할 수 있다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383280"/>
            <a:ext cx="54864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Pretendard"/>
              </a:rPr>
              <a:t>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" y="3383280"/>
            <a:ext cx="107899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3520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토스·카카오페이·Stripe 전략을 데이터 관점에서 해석할 수 있다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297680"/>
            <a:ext cx="54864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" y="4389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Pretendard"/>
              </a:rPr>
              <a:t>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" y="4297680"/>
            <a:ext cx="107899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44348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Amplitude로 퍼널·리텐션·코호트 분석을 수행할 수 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212080"/>
            <a:ext cx="548640" cy="6400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53035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Pretendard"/>
              </a:rPr>
              <a:t>✅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0120" y="5212080"/>
            <a:ext cx="10789920" cy="6400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3492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Looker Studio로 핵심 지표 대시보드를 만들 수 있다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88952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Pretendard"/>
              </a:rPr>
              <a:t>PART 2  ·  0:15 – 1:00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retendard"/>
              </a:rPr>
              <a:t>비즈니스 모델 분석 방법론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Pretendard"/>
              </a:rPr>
              <a:t>핀테크 비즈니스를 구조화해서 분석하는 눈 기르기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6 /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핀테크 비즈니스 모델 5대 유형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어떤 수익 구조를 가지고 있는가?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7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9144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1143000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Pretendard"/>
              </a:rPr>
              <a:t>결제/송금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retendard"/>
              </a:rPr>
              <a:t>예: 토스, 카카오페이, Stripe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F2937"/>
                </a:solidFill>
                <a:latin typeface="Pretendard"/>
              </a:rPr>
              <a:t>거래 수수료, MDR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23160"/>
            <a:ext cx="91440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23160"/>
            <a:ext cx="1143000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24688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Pretendard"/>
              </a:rPr>
              <a:t>대출/크레딧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788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retendard"/>
              </a:rPr>
              <a:t>예: 토스뱅크, 핀다, 카카오뱅크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F2937"/>
                </a:solidFill>
                <a:latin typeface="Pretendard"/>
              </a:rPr>
              <a:t>이자 수익, 중개 수수료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91839"/>
            <a:ext cx="9144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291839"/>
            <a:ext cx="1143000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33755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Pretendard"/>
              </a:rPr>
              <a:t>투자/자산관리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657599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retendard"/>
              </a:rPr>
              <a:t>예: 토스증권, Robinhood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4747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F2937"/>
                </a:solidFill>
                <a:latin typeface="Pretendard"/>
              </a:rPr>
              <a:t>거래 수수료, 구독료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160520"/>
            <a:ext cx="9144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160520"/>
            <a:ext cx="1143000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42062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  <a:latin typeface="Pretendard"/>
              </a:rPr>
              <a:t>보험(인슈어테크)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45262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retendard"/>
              </a:rPr>
              <a:t>예: 카카오손보, Lemonade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343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F2937"/>
                </a:solidFill>
                <a:latin typeface="Pretendard"/>
              </a:rPr>
              <a:t>보험료 수입, 손해율 관리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029200"/>
            <a:ext cx="91440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029200"/>
            <a:ext cx="1143000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5074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Pretendard"/>
              </a:rPr>
              <a:t>B2B 인프라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53949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retendard"/>
              </a:rPr>
              <a:t>예: Plaid, Marqeta, AWS Pay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2120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1F2937"/>
                </a:solidFill>
                <a:latin typeface="Pretendard"/>
              </a:rPr>
              <a:t>API 사용료, 라이선스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수익 모델 심화 — 핀테크는 어떻게 돈을 버나?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4가지 수익 패턴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8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669280" cy="2011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566928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600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etendard"/>
              </a:rPr>
              <a:t>💳 수수료형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488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거래당 % 또는 고정액 과금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97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retendard"/>
              </a:rPr>
              <a:t>예시: Stripe: 2.9% + $0.30/건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5669280" cy="2011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566928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600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etendard"/>
              </a:rPr>
              <a:t>🏦 이자 마진형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148839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예대마진 (대출이자 - 예금이자)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97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retendard"/>
              </a:rPr>
              <a:t>예시: 카카오뱅크 NIM 2~4%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794760"/>
            <a:ext cx="5669280" cy="2011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794760"/>
            <a:ext cx="566928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etendard"/>
              </a:rPr>
              <a:t>📱 구독형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월정액 프리미엄 서비스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983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retendard"/>
              </a:rPr>
              <a:t>예시: Robinhood Gold $5/월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794760"/>
            <a:ext cx="5669280" cy="20116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794760"/>
            <a:ext cx="5669280" cy="5029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886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Pretendard"/>
              </a:rPr>
              <a:t>📊 데이터/광고형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4348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금융 행동 데이터 활용·판매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83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retendard"/>
              </a:rPr>
              <a:t>예시: 신용평가 데이터, 타겟 광고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비즈니스 모델 캔버스 (BMC) — 핀테크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9개 블록으로 비즈니스 전체 구조 한눈에 파악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9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194560" cy="3291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08760"/>
            <a:ext cx="201167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retendard"/>
              </a:rPr>
              <a:t>핵심 파트너십
Key Partnerships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40" y="1417320"/>
            <a:ext cx="2194560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97480" y="1508760"/>
            <a:ext cx="20116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retendard"/>
              </a:rPr>
              <a:t>핵심 활동
Key Activities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0" y="1417320"/>
            <a:ext cx="2560320" cy="3291840"/>
          </a:xfrm>
          <a:prstGeom prst="rect">
            <a:avLst/>
          </a:prstGeom>
          <a:solidFill>
            <a:srgbClr val="1D4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1508760"/>
            <a:ext cx="2377439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retendard"/>
              </a:rPr>
              <a:t>가치 제안
Value Propositions
빠르고 / 저렴하고
쉽게 / 안전하게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1417320"/>
            <a:ext cx="2194560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26679" y="1508760"/>
            <a:ext cx="2011679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retendard"/>
              </a:rPr>
              <a:t>고객 관계
Customer Relationships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60" y="1417320"/>
            <a:ext cx="1920240" cy="32918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0" y="1508760"/>
            <a:ext cx="1737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retendard"/>
              </a:rPr>
              <a:t>고객 세그먼트
Customer Segments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06040" y="3108960"/>
            <a:ext cx="2194560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697480" y="3200400"/>
            <a:ext cx="20116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retendard"/>
              </a:rPr>
              <a:t>핵심 자원
Key Resources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5240" y="3108960"/>
            <a:ext cx="2194560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26679" y="3200400"/>
            <a:ext cx="2011679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retendard"/>
              </a:rPr>
              <a:t>채널
Channels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846320"/>
            <a:ext cx="5623560" cy="1691640"/>
          </a:xfrm>
          <a:prstGeom prst="rect">
            <a:avLst/>
          </a:prstGeom>
          <a:solidFill>
            <a:srgbClr val="1453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4937759"/>
            <a:ext cx="54406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retendard"/>
              </a:rPr>
              <a:t>비용 구조
Cost Structure
마케팅 CAC / 인프라 / 충당금 / 인건비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4846320"/>
            <a:ext cx="5852160" cy="1691640"/>
          </a:xfrm>
          <a:prstGeom prst="rect">
            <a:avLst/>
          </a:prstGeom>
          <a:solidFill>
            <a:srgbClr val="056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79" y="4937759"/>
            <a:ext cx="5669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Pretendard"/>
              </a:rPr>
              <a:t>수익 흐름
Revenue Streams
수수료 / 이자 / 구독 / 광고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핀테크 핵심 KPI 10선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반드시 추적해야 할 지표들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10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7607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731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총 거래액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17099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우리 플랫폼을 통해 얼마나 거래되나?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59" y="1508760"/>
            <a:ext cx="57607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59" y="1508760"/>
            <a:ext cx="73152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15544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Take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GMV 대비 수익률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70992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거래에서 얼마를 가져가나?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468880"/>
            <a:ext cx="57607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468880"/>
            <a:ext cx="731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CAC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926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고객 획득 비용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26700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신규 고객 1명 데려오는데 얼마?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59" y="2468880"/>
            <a:ext cx="57607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59" y="2468880"/>
            <a:ext cx="73152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2514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LTV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2926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고객 생애 가치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267004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고객 1명이 평생 얼마나 기여하나?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429000"/>
            <a:ext cx="57607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3429000"/>
            <a:ext cx="731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LTV/CAC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수익성 비율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94560" y="36301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&gt; 3이어야 건강한 사업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59" y="3429000"/>
            <a:ext cx="57607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09359" y="3429000"/>
            <a:ext cx="73152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4747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MAU/DAU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88620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활성 사용자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363016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얼마나 자주 오나?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389120"/>
            <a:ext cx="57607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4389120"/>
            <a:ext cx="731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Stickiness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4846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DAU/MAU 비율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194560" y="45902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&gt; 20%이면 좋은 앱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9359" y="4389120"/>
            <a:ext cx="57607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09359" y="4389120"/>
            <a:ext cx="73152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92240" y="44348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Churn Rate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4846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이탈률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4590288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얼마나 빠져나가나?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349240"/>
            <a:ext cx="57607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274320" y="5349240"/>
            <a:ext cx="73152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7200" y="53949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NPS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5806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추천 지수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94560" y="5550407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만족하고 추천하나?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9359" y="5349240"/>
            <a:ext cx="57607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309359" y="5349240"/>
            <a:ext cx="73152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5394959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Conversion Rate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92240" y="58064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전환율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29600" y="5550407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행동 유도가 잘 되나?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데이터로 비즈니스 모델을 읽는 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KPI 간의 관계로 비즈니스 건강도를 진단한다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11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1161288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9144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2763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Pretendard"/>
              </a:rPr>
              <a:t>📈 성장 진단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62763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MAU 증가율 + CAC 추이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162763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59669"/>
                </a:solidFill>
                <a:latin typeface="Pretendard"/>
              </a:rPr>
              <a:t>→ 효율적 성장인가?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057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/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651760"/>
            <a:ext cx="1161288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651760"/>
            <a:ext cx="9144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249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Pretendard"/>
              </a:rPr>
              <a:t>💰 수익성 진단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7249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Take Rate × GMV vs. 고정비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272491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59669"/>
                </a:solidFill>
                <a:latin typeface="Pretendard"/>
              </a:rPr>
              <a:t>→ 단위 경제성 확보 여부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154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749039"/>
            <a:ext cx="1161288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749039"/>
            <a:ext cx="91440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22191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Pretendard"/>
              </a:rPr>
              <a:t>🔄 리텐션 진단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822191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Churn Rate + LTV/CAC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3822191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59669"/>
                </a:solidFill>
                <a:latin typeface="Pretendard"/>
              </a:rPr>
              <a:t>→ 장기 지속 가능성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2519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4846320"/>
            <a:ext cx="1161288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4846320"/>
            <a:ext cx="91440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49194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  <a:latin typeface="Pretendard"/>
              </a:rPr>
              <a:t>❤️ 참여도 진단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491947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DAU/MAU + 기능별 사용률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919472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059669"/>
                </a:solidFill>
                <a:latin typeface="Pretendard"/>
              </a:rPr>
              <a:t>→ 핵심 기능 파악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349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Growth Accounting: 신규 + 복귀 - 이탈 = 순증가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0350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📌  "비즈니스 구조를 이해하고, KPI를 정의하고, 데이터로 검증하라"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핀테크 경쟁 우위의 원천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네트워크 효과 · 데이터 해자 · 규제 · 전환비용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12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1161288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10972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544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Pretendard"/>
              </a:rPr>
              <a:t>🌐 네트워크 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  <a:latin typeface="Pretendard"/>
              </a:rPr>
              <a:t>사용자 증가 → 서비스 가치 증가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011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예: 카카오페이: 카카오톡 5,000만 기반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60320"/>
            <a:ext cx="1161288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560320"/>
            <a:ext cx="109728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060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Pretendard"/>
              </a:rPr>
              <a:t>📊 데이터 해자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26060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  <a:latin typeface="Pretendard"/>
              </a:rPr>
              <a:t>거래 데이터 → 신용평가 정교화 → 리스크 감소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632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예: 토스: 송금 → 금융 데이터 → LTV 극대화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611879"/>
            <a:ext cx="1161288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3611879"/>
            <a:ext cx="109728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65759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97706"/>
                </a:solidFill>
                <a:latin typeface="Pretendard"/>
              </a:rPr>
              <a:t>📋 규제 해자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6575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  <a:latin typeface="Pretendard"/>
              </a:rPr>
              <a:t>금융 라이선스 획득 비용 → 진입 장벽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1148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예: 은행·보험 라이선스 획득 3~5년 소요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663440"/>
            <a:ext cx="1161288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4663440"/>
            <a:ext cx="109728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7091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C2626"/>
                </a:solidFill>
                <a:latin typeface="Pretendard"/>
              </a:rPr>
              <a:t>🔒 전환 비용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70915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  <a:latin typeface="Pretendard"/>
              </a:rPr>
              <a:t>금융 데이터 이전 번거로움 → Lock-in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1663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예: 계좌·자동이체·금융 히스토리 이전 불편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[중간 점검] 분석 프레임워크 한 장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케이스 스터디 준비 완료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13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1161288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1907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① 비즈니스 모델 유형 분류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71907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59669"/>
                </a:solidFill>
                <a:latin typeface="Pretendard"/>
              </a:rPr>
              <a:t>결제/대출/투자/보험/B2B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423160"/>
            <a:ext cx="116128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58775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② 수익 구조 매핑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58775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59669"/>
                </a:solidFill>
                <a:latin typeface="Pretendard"/>
              </a:rPr>
              <a:t>수수료/이자/구독/데이터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291839"/>
            <a:ext cx="1161288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45643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③ BMC로 전체 구조 시각화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45643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59669"/>
                </a:solidFill>
                <a:latin typeface="Pretendard"/>
              </a:rPr>
              <a:t>9개 블록 완성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60520"/>
            <a:ext cx="116128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32511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④ 핵심 KPI 정의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32511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59669"/>
                </a:solidFill>
                <a:latin typeface="Pretendard"/>
              </a:rPr>
              <a:t>GMV, Take Rate, CAC, LTV, Churn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029200"/>
            <a:ext cx="1161288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93792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⑤ 경쟁 우위 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193792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059669"/>
                </a:solidFill>
                <a:latin typeface="Pretendard"/>
              </a:rPr>
              <a:t>네트워크 효과, 데이터 해자, 규제 해자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0807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563EB"/>
                </a:solidFill>
                <a:latin typeface="Pretendard"/>
              </a:rPr>
              <a:t>"이 프레임워크를 들고 케이스 스터디로 갑니다 →"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88952" cy="10972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Pretendard"/>
              </a:rPr>
              <a:t>PART 3  ·  1:00 – 2:00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retendard"/>
              </a:rPr>
              <a:t>케이스 스터디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Pretendard"/>
              </a:rPr>
              <a:t>토스 · 카카오페이 · Stripe — 데이터로 전략을 읽는다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14 /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Case 1 — 토스 (Toss)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무료 송금으로 시작해 금융 슈퍼앱으로 진화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15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11612880" cy="11887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08760"/>
            <a:ext cx="256032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retendard"/>
              </a:rPr>
              <a:t>2014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19202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Pretendard"/>
              </a:rPr>
              <a:t>간편송금 출시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91840" y="1508760"/>
            <a:ext cx="2560320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retendard"/>
              </a:rPr>
              <a:t>2018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9202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Pretendard"/>
              </a:rPr>
              <a:t>카드 비교
보험 레퍼럴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508760"/>
            <a:ext cx="2560320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retendard"/>
              </a:rPr>
              <a:t>2021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19202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Pretendard"/>
              </a:rPr>
              <a:t>토스뱅크
토스증권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61120" y="1508760"/>
            <a:ext cx="2560320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52560" y="1554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retendard"/>
              </a:rPr>
              <a:t>2024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52560" y="192024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Pretendard"/>
              </a:rPr>
              <a:t>MAU 2,400만
수익화 가속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834640"/>
            <a:ext cx="26517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283464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292608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2,400만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4381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현재 MAU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63240" y="2834640"/>
            <a:ext cx="26517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063240" y="2834640"/>
            <a:ext cx="73152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292608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30개+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46120" y="34381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금융상품 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852160" y="2834640"/>
            <a:ext cx="26517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52160" y="2834640"/>
            <a:ext cx="731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35040" y="292608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80조원+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5040" y="34381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연간 결제처리금액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41080" y="2834640"/>
            <a:ext cx="26517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641080" y="283464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23959" y="292608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8~12%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23959" y="34381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교차판매 전환율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4069080"/>
            <a:ext cx="11612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F2937"/>
                </a:solidFill>
                <a:latin typeface="Pretendard"/>
              </a:rPr>
              <a:t>•  핵심 전략: "금융의 모든 것을 하나의 앱에서" — 슈퍼앱 전략</a:t>
            </a:r>
          </a:p>
          <a:p>
            <a:pPr algn="l"/>
            <a:r>
              <a:rPr sz="1400">
                <a:solidFill>
                  <a:srgbClr val="1F2937"/>
                </a:solidFill>
                <a:latin typeface="Pretendard"/>
              </a:rPr>
              <a:t>•  수익 구조: 금융상품 중개 수수료 + 대출 이자 + 결제 수수료 + 광고</a:t>
            </a:r>
          </a:p>
          <a:p>
            <a:pPr algn="l"/>
            <a:r>
              <a:rPr sz="1400">
                <a:solidFill>
                  <a:srgbClr val="1F2937"/>
                </a:solidFill>
                <a:latin typeface="Pretendard"/>
              </a:rPr>
              <a:t>•  Aha Moment: 첫 간편송금 완료 → 7일 리텐션 70%↑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Case 1 — 토스 퍼널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가입 → 첫 거래 구간 이탈 최소화가 최우선 과제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16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6" y="1508760"/>
            <a:ext cx="10972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" y="1645919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앱 다운로드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09276" y="164591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Pretendard"/>
              </a:rPr>
              <a:t>100%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36876" y="2377439"/>
            <a:ext cx="73152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19756" y="251459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가입 완료 (본인인증)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0475" y="25145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Pretendard"/>
              </a:rPr>
              <a:t>50%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51276" y="3246120"/>
            <a:ext cx="5486400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4156" y="3383279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첫 송금/결제 완료  ← Aha Moment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66075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Pretendard"/>
              </a:rPr>
              <a:t>35%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37076" y="4114800"/>
            <a:ext cx="4114800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9956" y="42519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7일 내 재사용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0275" y="42519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Pretendard"/>
              </a:rPr>
              <a:t>28%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51476" y="4983479"/>
            <a:ext cx="228600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4356" y="5120640"/>
            <a:ext cx="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금융상품 1개+ 가입  ← 수익화 전환점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65876" y="5120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Pretendard"/>
              </a:rPr>
              <a:t>14%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0350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💡  분석 포인트: 가입 → 첫 거래 구간 이탈 최소화가 최우선 과제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Case 2 — 카카오페이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결제에서 종합 금융 플랫폼으로 전환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17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26517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2,300만+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665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MAU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463040"/>
            <a:ext cx="26517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3240" y="1463040"/>
            <a:ext cx="73152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55448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120조원+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0665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연간 결제 거래액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463040"/>
            <a:ext cx="26517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1463040"/>
            <a:ext cx="731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55448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5,000만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0665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카카오톡 사용자
기반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1463040"/>
            <a:ext cx="26517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1080" y="146304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59" y="155448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결제→금융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59" y="20665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수익 믹스 전환 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플랫폼 전환 단계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200400"/>
            <a:ext cx="1161288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31012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① 결제 MAU 확보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331012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59669"/>
                </a:solidFill>
                <a:latin typeface="Pretendard"/>
              </a:rPr>
              <a:t>무료/편의성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886200"/>
            <a:ext cx="116128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99592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② 결제 데이터 → 금융 프로파일링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399592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59669"/>
                </a:solidFill>
                <a:latin typeface="Pretendard"/>
              </a:rPr>
              <a:t>금융 행동 분석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572000"/>
            <a:ext cx="1161288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68172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③ 신용/보험 크로스셀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468172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59669"/>
                </a:solidFill>
                <a:latin typeface="Pretendard"/>
              </a:rPr>
              <a:t>다중 상품 전환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5257800"/>
            <a:ext cx="116128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367528"/>
            <a:ext cx="6400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④ 투자 서비스 → 자산관리 플랫폼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0" y="5367528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59669"/>
                </a:solidFill>
                <a:latin typeface="Pretendard"/>
              </a:rPr>
              <a:t>LTV 극대화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Case 2 — GMV vs. Take Rate 딜레마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성장과 수익성 사이의 핵심 긴장 관계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18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548640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Pretendard"/>
              </a:rPr>
              <a:t>📈 TPV 성장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59669"/>
                </a:solidFill>
                <a:latin typeface="Pretendard"/>
              </a:rPr>
              <a:t>120조원+ 거래액
YoY 빠른 성장
✅ 좋음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463040"/>
            <a:ext cx="5943600" cy="4114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600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  <a:latin typeface="Pretendard"/>
              </a:rPr>
              <a:t>📉 Take Rate 압박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1945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DC2626"/>
                </a:solidFill>
                <a:latin typeface="Pretendard"/>
              </a:rPr>
              <a:t>카드 MDR 규제 인하
Take Rate 낮음
⚠️ 개선 필요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760720"/>
            <a:ext cx="1161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해결책: 고마진 부문(보험·투자)으로 믹스 전환 → "Revenue Quality" 개선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Case 3 — Stripe 개요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개발자 친화적 API로 글로벌 결제 인프라를 장악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19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26517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$65B+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665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기업 가치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463040"/>
            <a:ext cx="26517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3240" y="1463040"/>
            <a:ext cx="73152" cy="10972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55448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135개국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0665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서비스 국가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463040"/>
            <a:ext cx="26517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1463040"/>
            <a:ext cx="731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55448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100만+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0665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비즈니스 고객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1463040"/>
            <a:ext cx="26517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1080" y="146304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59" y="155448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2.9%+$0.30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59" y="20665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기본 수수료/건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743200"/>
            <a:ext cx="11612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F2937"/>
                </a:solidFill>
                <a:latin typeface="Pretendard"/>
              </a:rPr>
              <a:t>•  핵심 가치 제안: "7줄의 코드로 결제 구현" — 개발자 경험 최우선</a:t>
            </a:r>
          </a:p>
          <a:p>
            <a:pPr algn="l"/>
            <a:r>
              <a:rPr sz="1400">
                <a:solidFill>
                  <a:srgbClr val="1F2937"/>
                </a:solidFill>
                <a:latin typeface="Pretendard"/>
              </a:rPr>
              <a:t>•  주요 고객: Shopify, Lyft, DoorDash, Amazon</a:t>
            </a:r>
          </a:p>
          <a:p>
            <a:pPr algn="l"/>
            <a:r>
              <a:rPr sz="1400">
                <a:solidFill>
                  <a:srgbClr val="1F2937"/>
                </a:solidFill>
                <a:latin typeface="Pretendard"/>
              </a:rPr>
              <a:t>•  확장: Stripe Atlas (법인설립), Stripe Radar (사기탐지), Stripe Treasury (금융 서비스형)</a:t>
            </a:r>
          </a:p>
          <a:p>
            <a:pPr algn="l"/>
            <a:r>
              <a:rPr sz="1400">
                <a:solidFill>
                  <a:srgbClr val="1F2937"/>
                </a:solidFill>
                <a:latin typeface="Pretendard"/>
              </a:rPr>
              <a:t>•  GTM 전략: Bottom-up — 개발자가 먼저 도입 → 기업 전체로 확산</a:t>
            </a:r>
          </a:p>
          <a:p>
            <a:pPr algn="l"/>
            <a:r>
              <a:rPr sz="1400">
                <a:solidFill>
                  <a:srgbClr val="1F2937"/>
                </a:solidFill>
                <a:latin typeface="Pretendard"/>
              </a:rPr>
              <a:t>•  LTV 모델: 고객이 성장할수록 GMV 증가 → Stripe 수익 비례 증가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Case 3 — 데이터로 만든 경쟁 우위: Stripe Radar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거래 데이터가 AI 제품이 되는 선순환 구조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20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926080"/>
            <a:ext cx="1645920" cy="12801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retendard"/>
              </a:rPr>
              <a:t>수억 건
거래 데이터</a:t>
            </a:r>
          </a:p>
        </p:txBody>
      </p:sp>
      <p:sp>
        <p:nvSpPr>
          <p:cNvPr id="11" name="Oval 10"/>
          <p:cNvSpPr/>
          <p:nvPr/>
        </p:nvSpPr>
        <p:spPr>
          <a:xfrm>
            <a:off x="3657600" y="1828800"/>
            <a:ext cx="1645920" cy="1280160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0574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retendard"/>
              </a:rPr>
              <a:t>ML 모델
학습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0" y="1828800"/>
            <a:ext cx="1645920" cy="128016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205740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retendard"/>
              </a:rPr>
              <a:t>Radar
사기 탐지</a:t>
            </a:r>
          </a:p>
        </p:txBody>
      </p:sp>
      <p:sp>
        <p:nvSpPr>
          <p:cNvPr id="15" name="Oval 14"/>
          <p:cNvSpPr/>
          <p:nvPr/>
        </p:nvSpPr>
        <p:spPr>
          <a:xfrm>
            <a:off x="9601200" y="2926080"/>
            <a:ext cx="1645920" cy="1280160"/>
          </a:xfrm>
          <a:prstGeom prst="ellipse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0" y="315468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retendard"/>
              </a:rPr>
              <a:t>추가 수익
창출</a:t>
            </a:r>
          </a:p>
        </p:txBody>
      </p:sp>
      <p:sp>
        <p:nvSpPr>
          <p:cNvPr id="17" name="Oval 16"/>
          <p:cNvSpPr/>
          <p:nvPr/>
        </p:nvSpPr>
        <p:spPr>
          <a:xfrm>
            <a:off x="6858000" y="4389120"/>
            <a:ext cx="1645920" cy="128016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461772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retendard"/>
              </a:rPr>
              <a:t>데이터
확장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0" y="4389120"/>
            <a:ext cx="1645920" cy="12801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461772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Pretendard"/>
              </a:rPr>
              <a:t>더 많은
가맹점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15087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🔄 데이터 플라이휠 선순환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715000"/>
            <a:ext cx="11612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3A5F"/>
                </a:solidFill>
                <a:latin typeface="Pretendard"/>
              </a:rPr>
              <a:t>결과: 99.9%+ 결제 성공률, 사기 탐지 정확도 업계 최고
"데이터 자산 → AI 제품 → 추가 수익 → 데이터 확장" 선순환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케이스 스터디 비교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공통점: 데이터를 핵심 자산으로 활용 | 차이점: 고객·진입·수익화 전략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21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2194560" cy="5029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7276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retendard"/>
              </a:rPr>
              <a:t>구분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508760"/>
            <a:ext cx="283464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5727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retendard"/>
              </a:rPr>
              <a:t>토스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1508760"/>
            <a:ext cx="283464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0" y="15727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retendard"/>
              </a:rPr>
              <a:t>카카오페이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1508760"/>
            <a:ext cx="283464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0" y="157276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Pretendard"/>
              </a:rPr>
              <a:t>Stripe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103120"/>
            <a:ext cx="219456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240279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  <a:latin typeface="Pretendard"/>
              </a:rPr>
              <a:t>고객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2103120"/>
            <a:ext cx="283464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22402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563EB"/>
                </a:solidFill>
                <a:latin typeface="Pretendard"/>
              </a:rPr>
              <a:t>B2C 개인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0" y="2103120"/>
            <a:ext cx="283464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2402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Pretendard"/>
              </a:rPr>
              <a:t>B2C 개인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2103120"/>
            <a:ext cx="283464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0" y="22402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Pretendard"/>
              </a:rPr>
              <a:t>B2B 기업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880360"/>
            <a:ext cx="21945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301752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  <a:latin typeface="Pretendard"/>
              </a:rPr>
              <a:t>진입 전략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2880360"/>
            <a:ext cx="28346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43200" y="3017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563EB"/>
                </a:solidFill>
                <a:latin typeface="Pretendard"/>
              </a:rPr>
              <a:t>무료 기능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0" y="2880360"/>
            <a:ext cx="28346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0" y="3017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Pretendard"/>
              </a:rPr>
              <a:t>생태계 기반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86800" y="2880360"/>
            <a:ext cx="28346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78240" y="3017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Pretendard"/>
              </a:rPr>
              <a:t>개발자 경험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657600"/>
            <a:ext cx="219456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79476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  <a:latin typeface="Pretendard"/>
              </a:rPr>
              <a:t>수익화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51760" y="3657600"/>
            <a:ext cx="283464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0" y="3794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563EB"/>
                </a:solidFill>
                <a:latin typeface="Pretendard"/>
              </a:rPr>
              <a:t>크로스셀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3657600"/>
            <a:ext cx="283464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0" y="3794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Pretendard"/>
              </a:rPr>
              <a:t>믹스 전환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686800" y="3657600"/>
            <a:ext cx="283464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778240" y="3794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Pretendard"/>
              </a:rPr>
              <a:t>거래 과금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434840"/>
            <a:ext cx="219456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5720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  <a:latin typeface="Pretendard"/>
              </a:rPr>
              <a:t>데이터 활용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51760" y="4434840"/>
            <a:ext cx="28346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0" y="4572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563EB"/>
                </a:solidFill>
                <a:latin typeface="Pretendard"/>
              </a:rPr>
              <a:t>신용평가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4434840"/>
            <a:ext cx="28346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0" y="4572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Pretendard"/>
              </a:rPr>
              <a:t>금융 프로파일링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686800" y="4434840"/>
            <a:ext cx="283464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78240" y="4572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Pretendard"/>
              </a:rPr>
              <a:t>사기 탐지 AI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5212079"/>
            <a:ext cx="219456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53492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E3A5F"/>
                </a:solidFill>
                <a:latin typeface="Pretendard"/>
              </a:rPr>
              <a:t>핵심 해자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651760" y="5212079"/>
            <a:ext cx="283464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0" y="5349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563EB"/>
                </a:solidFill>
                <a:latin typeface="Pretendard"/>
              </a:rPr>
              <a:t>사용자 데이터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80" y="5212079"/>
            <a:ext cx="283464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0" y="5349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59669"/>
                </a:solidFill>
                <a:latin typeface="Pretendard"/>
              </a:rPr>
              <a:t>카카오 생태계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686800" y="5212079"/>
            <a:ext cx="283464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778240" y="5349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Pretendard"/>
              </a:rPr>
              <a:t>개발자 네트워크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" y="60807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"여러분의 서비스는 어떤 해자를 가지고 있나요?"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내 서비스에 적용하기 — 분석 체크리스트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오늘 배운 프레임워크를 내 업무에 즉시 적용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22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1161288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64592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retendard"/>
              </a:rPr>
              <a:t>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17190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  <a:latin typeface="Pretendard"/>
              </a:rPr>
              <a:t>우리 서비스의 비즈니스 모델 유형은?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331720"/>
            <a:ext cx="11612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33172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242316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retendard"/>
              </a:rPr>
              <a:t>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49631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  <a:latin typeface="Pretendard"/>
              </a:rPr>
              <a:t>주요 수익원 Top 3는?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108960"/>
            <a:ext cx="1161288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10896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320040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retendard"/>
              </a:rPr>
              <a:t>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27355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  <a:latin typeface="Pretendard"/>
              </a:rPr>
              <a:t>핵심 고객 세그먼트는? 각각의 LTV는?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3886200"/>
            <a:ext cx="11612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388620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" y="3977639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retendard"/>
              </a:rPr>
              <a:t>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050791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  <a:latin typeface="Pretendard"/>
              </a:rPr>
              <a:t>지금 추적하고 있는 KPI는? 빠진 KPI는?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663440"/>
            <a:ext cx="11612880" cy="6858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66344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4754879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retendard"/>
              </a:rPr>
              <a:t>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4828031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  <a:latin typeface="Pretendard"/>
              </a:rPr>
              <a:t>우리의 경쟁 우위(해자)는 무엇인가?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440680"/>
            <a:ext cx="116128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440680"/>
            <a:ext cx="685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5532120"/>
            <a:ext cx="685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Pretendard"/>
              </a:rPr>
              <a:t>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5605272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  <a:latin typeface="Pretendard"/>
              </a:rPr>
              <a:t>데이터 자산을 어떻게 활용하고 있는가?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88952" cy="10972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Pretendard"/>
              </a:rPr>
              <a:t>PART 4  ·  2:00 – 3:00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retendard"/>
              </a:rPr>
              <a:t>실습: Amplitude + Looker Studio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Pretendard"/>
              </a:rPr>
              <a:t>가상 서비스 FinFlow 데이터로 직접 인사이트를 도출하라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23 /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실습 개요 — 가상 서비스 FinFlow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"실제 스타트업에 입사 첫 주에 이 데이터를 받았다고 상상하세요"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24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463040"/>
            <a:ext cx="26517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463040"/>
            <a:ext cx="73152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55448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5만 MAU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0665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현재 규모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63240" y="1463040"/>
            <a:ext cx="26517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63240" y="1463040"/>
            <a:ext cx="73152" cy="10972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155448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저조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0665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결제 전환율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52160" y="1463040"/>
            <a:ext cx="26517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52160" y="1463040"/>
            <a:ext cx="73152" cy="10972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155448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하락 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0665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30일 리텐션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41080" y="1463040"/>
            <a:ext cx="2651760" cy="109728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41080" y="1463040"/>
            <a:ext cx="73152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23959" y="1554480"/>
            <a:ext cx="237744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E3A5F"/>
                </a:solidFill>
                <a:latin typeface="Pretendard"/>
              </a:rPr>
              <a:t>90일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23959" y="2066544"/>
            <a:ext cx="2377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데이터 기간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2743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🎯  미션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320040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1F2937"/>
                </a:solidFill>
                <a:latin typeface="Pretendard"/>
              </a:rPr>
              <a:t>•  ① 결제 퍼널에서 가장 큰 이탈 구간 찾기 (Amplitude)</a:t>
            </a:r>
          </a:p>
          <a:p>
            <a:pPr algn="l"/>
            <a:r>
              <a:rPr sz="1500">
                <a:solidFill>
                  <a:srgbClr val="1F2937"/>
                </a:solidFill>
                <a:latin typeface="Pretendard"/>
              </a:rPr>
              <a:t>•  ② 30일 리텐션 패턴 분석 (Amplitude)</a:t>
            </a:r>
          </a:p>
          <a:p>
            <a:pPr algn="l"/>
            <a:r>
              <a:rPr sz="1500">
                <a:solidFill>
                  <a:srgbClr val="1F2937"/>
                </a:solidFill>
                <a:latin typeface="Pretendard"/>
              </a:rPr>
              <a:t>•  ③ GMV &amp; 결제 성공률 대시보드 구성 (Looker Studio)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4937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📊  데이터셋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394960"/>
            <a:ext cx="11612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F2937"/>
                </a:solidFill>
                <a:latin typeface="Pretendard"/>
              </a:rPr>
              <a:t>•  user_events.csv — 사용자 이벤트 10,000건 (app_open, signup, 계좌연결, 결제 등)</a:t>
            </a:r>
          </a:p>
          <a:p>
            <a:pPr algn="l"/>
            <a:r>
              <a:rPr sz="1300">
                <a:solidFill>
                  <a:srgbClr val="1F2937"/>
                </a:solidFill>
                <a:latin typeface="Pretendard"/>
              </a:rPr>
              <a:t>•  transactions.csv — 거래 데이터 5,000건 (금액, 상태, 결제수단, 카테고리)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실습 A-1: Amplitude 퍼널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전환 퍼널에서 가장 큰 이탈 구간 찾기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25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8076" y="1508760"/>
            <a:ext cx="1097280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" y="1645919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</a:rPr>
              <a:t>Event 1: 앱 실행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09276" y="164591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Pretendard"/>
              </a:rPr>
              <a:t>100%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3915" y="2377439"/>
            <a:ext cx="8961120" cy="685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96795" y="2514599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</a:rPr>
              <a:t>Event 2: 회원가입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03436" y="251459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Pretendard"/>
              </a:rPr>
              <a:t>62%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19756" y="3246120"/>
            <a:ext cx="6949440" cy="685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2636" y="3383279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</a:rPr>
              <a:t>Event 3: 계좌 연결  ← 주요 이탈 구간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7596" y="3383279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Pretendard"/>
              </a:rPr>
              <a:t>34%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25596" y="4114800"/>
            <a:ext cx="4937760" cy="685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08476" y="42519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</a:rPr>
              <a:t>Event 4: 첫 결제 시도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91756" y="425196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Pretendard"/>
              </a:rPr>
              <a:t>28%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31436" y="4983479"/>
            <a:ext cx="2926080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14316" y="51206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Pretendard"/>
              </a:rPr>
              <a:t>Event 5: 첫 결제 성공  ← Aha Moment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85916" y="5120640"/>
            <a:ext cx="1188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 i="0">
                <a:solidFill>
                  <a:srgbClr val="FFFFFF"/>
                </a:solidFill>
                <a:latin typeface="Pretendard"/>
              </a:rPr>
              <a:t>21%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0350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Pretendard"/>
              </a:rPr>
              <a:t>⚠️  계좌 연결 단계에서 최대 이탈 (62% → 34% = -28%p) — 가장 큰 병목 구간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실습 A-2: Amplitude 리텐션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가입 후 사용자가 얼마나 돌아오는가?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26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087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리텐션 커브 — 가입 코호트별 재방문률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828800"/>
            <a:ext cx="640080" cy="3657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5577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Pretendard"/>
              </a:rPr>
              <a:t>W0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69163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Pretendard"/>
              </a:rPr>
              <a:t>100%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03120" y="3584448"/>
            <a:ext cx="640080" cy="19019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103120" y="5577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Pretendard"/>
              </a:rPr>
              <a:t>W1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3447287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Pretendard"/>
              </a:rPr>
              <a:t>52%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49039" y="4096512"/>
            <a:ext cx="640080" cy="13898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49039" y="5577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Pretendard"/>
              </a:rPr>
              <a:t>W2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395935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Pretendard"/>
              </a:rPr>
              <a:t>38%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394960" y="4389120"/>
            <a:ext cx="640080" cy="10972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0" y="5577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Pretendard"/>
              </a:rPr>
              <a:t>W3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4251959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Pretendard"/>
              </a:rPr>
              <a:t>30%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0" y="4608576"/>
            <a:ext cx="640080" cy="87782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0" y="5577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Pretendard"/>
              </a:rPr>
              <a:t>W4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471416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Pretendard"/>
              </a:rPr>
              <a:t>24%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0" y="4754880"/>
            <a:ext cx="64008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0" y="5577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Pretendard"/>
              </a:rPr>
              <a:t>W5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6177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Pretendard"/>
              </a:rPr>
              <a:t>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20" y="4828032"/>
            <a:ext cx="640080" cy="65836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20" y="5577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F2937"/>
                </a:solidFill>
                <a:latin typeface="Pretendard"/>
              </a:rPr>
              <a:t>W6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332720" y="469087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E3A5F"/>
                </a:solidFill>
                <a:latin typeface="Pretendard"/>
              </a:rPr>
              <a:t>18%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8064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retendard"/>
              </a:rPr>
              <a:t>코호트 비교: iOS vs Android | 첫 결제 금액대별 리텐션 차이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17220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💡  핵심 질문: "어떤 세그먼트의 리텐션이 가장 높은가? 왜?"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실습 A-3: 코호트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첫 거래 패턴으로 미래 LTV 예측하기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27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3657600" cy="3200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45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retendard"/>
              </a:rPr>
              <a:t>Group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Pretendard"/>
              </a:rPr>
              <a:t>첫 결제 1만원 미만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23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</a:rPr>
              <a:t>낮은 LTV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508760"/>
            <a:ext cx="3657600" cy="3200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645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retendard"/>
              </a:rPr>
              <a:t>Group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860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Pretendard"/>
              </a:rPr>
              <a:t>첫 결제 1~5만원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023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</a:rPr>
              <a:t>중간 LTV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508760"/>
            <a:ext cx="3657600" cy="3200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64592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Pretendard"/>
              </a:rPr>
              <a:t>Group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28600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Pretendard"/>
              </a:rPr>
              <a:t>첫 결제 5만원+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0233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</a:rPr>
              <a:t>높은 LTV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49377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가설: "첫 결제 금액이 높을수록 LTV가 높다"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" y="544068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Pretendard"/>
              </a:rPr>
              <a:t>비교 지표: 재결제율 | 평균 결제 횟수 | 30일 GMV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589788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59669"/>
                </a:solidFill>
                <a:latin typeface="Pretendard"/>
              </a:rPr>
              <a:t>마케팅 적용: 고가 첫 결제 사용자를 더 많이 획득하는 채널 집중 투자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실습 B: Looker Studio 대시보드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핵심 지표를 한눈에 볼 수 있는 경영진 대시보드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28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087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대시보드 레이아웃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20240"/>
            <a:ext cx="11612880" cy="9144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011680"/>
            <a:ext cx="201168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MAU: 50,124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0" y="2011680"/>
            <a:ext cx="201168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3464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TPV: 48.2억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011680"/>
            <a:ext cx="201168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결제성공률: 94.2%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011680"/>
            <a:ext cx="201168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CAC: 3,200원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2011680"/>
            <a:ext cx="2011680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21031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Pretendard"/>
              </a:rPr>
              <a:t>LTV/CAC: 4.1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926080"/>
            <a:ext cx="713232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017520"/>
            <a:ext cx="6766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Pretendard"/>
              </a:rPr>
              <a:t>월별 MAU 추이 (Line Chart)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2926080"/>
            <a:ext cx="438912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301752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Pretendard"/>
              </a:rPr>
              <a:t>채널별 유저 비율 (Bar)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166360"/>
            <a:ext cx="1161288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257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Pretendard"/>
              </a:rPr>
              <a:t>퍼널 전환율 (Funnel Chart)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대시보드 설계 원칙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좋은 대시보드의 3가지 조건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29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1161288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109728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563EB"/>
                </a:solidFill>
                <a:latin typeface="Pretendard"/>
              </a:rPr>
              <a:t>👁  한 눈에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48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5초 안에 핵심이 보여야 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14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실천: KPI 카드를 상단에 배치, 가장 중요한 숫자를 큰 글씨로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17520"/>
            <a:ext cx="1161288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109728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089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  <a:latin typeface="Pretendard"/>
              </a:rPr>
              <a:t>⚡ 행동 가능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11879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"그래서 뭘 해야 하는가?"를 알 수 있어야 한다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9776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실천: 이상 감지 알림, 임계값 표시, 드릴다운 가능한 구조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480560"/>
            <a:ext cx="11612880" cy="12801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480560"/>
            <a:ext cx="109728" cy="1280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57200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7706"/>
                </a:solidFill>
                <a:latin typeface="Pretendard"/>
              </a:rPr>
              <a:t>✅ 신뢰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74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데이터 정의와 집계 방식이 명확해야 한다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406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실천: 지표 정의 툴팁, 데이터 업데이트 시간 표시, 데이터 소스 명시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실습 결과 공유 — 인사이트 발표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다양한 팀의 관점을 비교하는 것 자체가 학습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30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150876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팀별 발표 (1팀 2분)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011680"/>
            <a:ext cx="1161288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011680"/>
            <a:ext cx="109728" cy="8229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031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1. 발견한 핵심 이탈 구간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46888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retendard"/>
              </a:rPr>
              <a:t>퍼널 분석 결과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17520"/>
            <a:ext cx="1161288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17520"/>
            <a:ext cx="109728" cy="8229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089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2. 리텐션이 낮은 세그먼트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7472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retendard"/>
              </a:rPr>
              <a:t>코호트 분석 결과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023360"/>
            <a:ext cx="1161288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4023360"/>
            <a:ext cx="109728" cy="8229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1148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3. 대시보드에서 발견한 이상 패턴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44805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retendard"/>
              </a:rPr>
              <a:t>Looker Studio 결과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5212080"/>
            <a:ext cx="11612880" cy="9144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3492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💬  토론: "만약 이 데이터가 실제 서비스라면 다음 액션은?"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88952" cy="10972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Pretendard"/>
              </a:rPr>
              <a:t>PART 5  ·  2:40 – 3:00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retendard"/>
              </a:rPr>
              <a:t>마무리 &amp;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Pretendard"/>
              </a:rPr>
              <a:t>3시간의 학습을 정리하고 실무에 적용합니다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31 /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오늘 배운 것 정리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3시간 학습 내용을 한 장으로 압축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32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1161288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109728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Pretendard"/>
              </a:rPr>
              <a:t>Part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645920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  <a:latin typeface="Pretendard"/>
              </a:rPr>
              <a:t>핀테크 데이터 분석의 필요성과 오늘의 목표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606039"/>
            <a:ext cx="1161288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606039"/>
            <a:ext cx="109728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974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Pretendard"/>
              </a:rPr>
              <a:t>Part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697479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  <a:latin typeface="Pretendard"/>
              </a:rPr>
              <a:t>비즈니스 모델 5대 유형 + BMC + 10대 KPI + 경쟁 우위 분석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657600"/>
            <a:ext cx="1161288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4320" y="3657600"/>
            <a:ext cx="109728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7490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Pretendard"/>
              </a:rPr>
              <a:t>Part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749039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  <a:latin typeface="Pretendard"/>
              </a:rPr>
              <a:t>토스(슈퍼앱) · 카카오페이(플랫폼 전환) · Stripe(API 경제) 케이스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709159"/>
            <a:ext cx="1161288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74320" y="4709159"/>
            <a:ext cx="109728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80059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Pretendard"/>
              </a:rPr>
              <a:t>Part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4800599"/>
            <a:ext cx="9784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E3A5F"/>
                </a:solidFill>
                <a:latin typeface="Pretendard"/>
              </a:rPr>
              <a:t>Amplitude 퍼널/리텐션/코호트 + Looker Studio 대시보드 실습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852160"/>
            <a:ext cx="11612880" cy="6400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</a:rPr>
              <a:t>🎯  핵심 메시지: "비즈니스 구조를 이해하고, KPI를 정의하고, 데이터로 검증하라"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실무 적용 팁 — 내일 당장 할 수 있는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강의 내용을 월요일 업무에 바로 적용하는 구체적 액션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33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11612880" cy="1371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109728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6459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Pretendard"/>
              </a:rPr>
              <a:t>🌙  오늘 (Tonight)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148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•  내 서비스 BMC 빈칸 채워보기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514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•  비즈니스 모델 유형 분류 해보기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63239"/>
            <a:ext cx="11612880" cy="1371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63239"/>
            <a:ext cx="109728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154679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563EB"/>
                </a:solidFill>
                <a:latin typeface="Pretendard"/>
              </a:rPr>
              <a:t>📅  이번 주 (This Week)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65759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•  Amplitude / Looker Studio 무료 계정 세팅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02335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•  서비스의 KPI 5개 정의하고 현재 수치 파악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572000"/>
            <a:ext cx="11612880" cy="1371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109728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6634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Pretendard"/>
              </a:rPr>
              <a:t>📆  이번 달 (This Month)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166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•  퍼널 분석 1개 완료 → 이탈 구간 가설 제시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5321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•  리텐션 분석 → 고LTV 세그먼트 정의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추천 학습 리소스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더 깊이 공부하고 싶은 분들을 위한 다음 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34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3657600" cy="4389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3657600" cy="5029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15727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</a:rPr>
              <a:t>📚 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1488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•  Lean Analytics — 스타트업 지표 바이블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79" y="2788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•  Hacking Growth — 그로스 해킹 실전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79" y="34290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•  Fintech in Korea — 핀테크 산업 개요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1508760"/>
            <a:ext cx="3657600" cy="4389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06240" y="1508760"/>
            <a:ext cx="3657600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15727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</a:rPr>
              <a:t>📰 뉴스레터/블로그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1488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•  핀다 블로그 (핀테크 분석)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788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•  a16z Fintech Newsletter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34290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•  Andreessen Horowitz Fintech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1508760"/>
            <a:ext cx="3657600" cy="4389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60" y="1508760"/>
            <a:ext cx="3657600" cy="502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5727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Pretendard"/>
              </a:rPr>
              <a:t>🛠 도구 학습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14884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•  Amplitude Academy (무료 온라인)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78892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•  Looker Studio 공식 튜토리얼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42900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•  Kaggle Fintech Datasets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궁금한 것을 풀어가는 시간 — 15분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35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11612880" cy="1371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54480"/>
            <a:ext cx="7315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9659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Pretendard"/>
              </a:rPr>
              <a:t>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16459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Amplitude vs. Mixpanel, 어떤 걸 써야 하나요?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10312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사용량 기준: Amplitude(이벤트 기반 코호트/리텐션 강점), Mixpanel(실시간 분석 강점). 핀테크라면 Amplitude 권장.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63239"/>
            <a:ext cx="11612880" cy="1371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63239"/>
            <a:ext cx="7315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4747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Pretendard"/>
              </a:rPr>
              <a:t>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15467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Take Rate는 어떻게 벤치마킹하나요?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611879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공개 IR 자료 (SEC 10-K, 분기보고서) + 업계 리포트 (CB Insights, PitchBook). 결제사 평균 0.5~2.5%.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572000"/>
            <a:ext cx="11612880" cy="13716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572000"/>
            <a:ext cx="73152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49834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Pretendard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663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소규모 팀에서도 이런 분석이 가능한가요?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5120640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2937"/>
                </a:solidFill>
                <a:latin typeface="Pretendard"/>
              </a:rPr>
              <a:t>Amplitude 무료 플랜 (월 10만 이벤트) + Looker Studio (무료) 조합으로 충분히 시작 가능합니다.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88952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Pretendard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4A3B8"/>
                </a:solidFill>
                <a:latin typeface="Pretendard"/>
              </a:rPr>
              <a:t>"오늘 배운 프레임워크로 여러분 서비스의 데이터를 다시 보세요"
데이터로 더 나은 결정을 — Good luck!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📧  강사 연락처 및 LinkedIn — 강의 자료 다운로드 QR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  <a:latin typeface="Pretendard"/>
              </a:rPr>
              <a:t>HULK × PEPPER  |  Jarvis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2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0"/>
            <a:ext cx="12188952" cy="10972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4A3B8"/>
                </a:solidFill>
                <a:latin typeface="Pretendard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Pretendard"/>
              </a:rPr>
              <a:t>부록 — 심화 &amp; 참고용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4A3B8"/>
                </a:solidFill>
                <a:latin typeface="Pretendard"/>
              </a:rPr>
              <a:t>규제 환경 · 사기 탐지 · Unit Economics · 데이터 파이프라인 · 커리어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37 / 45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[부록] 핀테크 규제 환경과 데이터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규제가 데이터 활용과 비즈니스 모델에 미치는 영향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38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54480"/>
            <a:ext cx="1161288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7190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전자금융거래법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190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전자결제 서비스 허가 및 운영 규제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171907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59669"/>
                </a:solidFill>
                <a:latin typeface="Pretendard"/>
              </a:rPr>
              <a:t>PG사 허가 필수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423160"/>
            <a:ext cx="116128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87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개인정보보호법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58775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금융 데이터 수집·처리·분석 제한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58775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59669"/>
                </a:solidFill>
                <a:latin typeface="Pretendard"/>
              </a:rPr>
              <a:t>익명화·가명화 필수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291839"/>
            <a:ext cx="1161288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4564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금융소비자보호법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45643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금융상품 추천/판매 프로세스 규제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34564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59669"/>
                </a:solidFill>
                <a:latin typeface="Pretendard"/>
              </a:rPr>
              <a:t>적합성 원칙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160520"/>
            <a:ext cx="11612880" cy="7315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3251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마이데이터(본인신용정보관리업)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32511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금융 데이터 통합 → 분석 기회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32511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59669"/>
                </a:solidFill>
                <a:latin typeface="Pretendard"/>
              </a:rPr>
              <a:t>오픈 API 기반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029200"/>
            <a:ext cx="11612880" cy="7315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51937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오픈뱅킹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519379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API 기반 계좌 접근 서비스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519379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059669"/>
                </a:solidFill>
                <a:latin typeface="Pretendard"/>
              </a:rPr>
              <a:t>서비스 확장 기반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0350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Pretendard"/>
              </a:rPr>
              <a:t>💡  "규제는 제약이자 새로운 시장의 출발점"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[부록] 사기 탐지 (Fraud Detection)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핀테크 데이터 분석의 중요한 응용 — 이상 탐지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39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2651760" cy="13716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645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계정 탈취
(ATO)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31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Pretendard"/>
              </a:rPr>
              <a:t>신호: 비정상 로그인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508760"/>
            <a:ext cx="2651760" cy="1371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1645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신용카드 사기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331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Pretendard"/>
              </a:rPr>
              <a:t>신호: 이상 결제 패턴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508760"/>
            <a:ext cx="2651760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645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보이스피싱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331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Pretendard"/>
              </a:rPr>
              <a:t>신호: 비정상 송금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1508760"/>
            <a:ext cx="2651760" cy="13716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5400" y="1645920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Pretendard"/>
              </a:rPr>
              <a:t>자금세탁
(AML)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3317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Pretendard"/>
              </a:rPr>
              <a:t>신호: 구조화 거래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3063240"/>
            <a:ext cx="116128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F2937"/>
                </a:solidFill>
                <a:latin typeface="Pretendard"/>
              </a:rPr>
              <a:t>•  이상 탐지 지표: 비정상적 거래 시간대, 위치 불일치, 금액 패턴 이상</a:t>
            </a:r>
          </a:p>
          <a:p>
            <a:pPr algn="l"/>
            <a:r>
              <a:rPr sz="1400">
                <a:solidFill>
                  <a:srgbClr val="1F2937"/>
                </a:solidFill>
                <a:latin typeface="Pretendard"/>
              </a:rPr>
              <a:t>•  Rule-based → ML-based 단계적 고도화 (Stripe Radar 사례)</a:t>
            </a:r>
          </a:p>
          <a:p>
            <a:pPr algn="l"/>
            <a:r>
              <a:rPr sz="1400">
                <a:solidFill>
                  <a:srgbClr val="1F2937"/>
                </a:solidFill>
                <a:latin typeface="Pretendard"/>
              </a:rPr>
              <a:t>•  Amplitude 활용: 비정상 행동 코호트 정의 → 세그먼트 분리 분석</a:t>
            </a:r>
          </a:p>
          <a:p>
            <a:pPr algn="l"/>
            <a:r>
              <a:rPr sz="1400">
                <a:solidFill>
                  <a:srgbClr val="1F2937"/>
                </a:solidFill>
                <a:latin typeface="Pretendard"/>
              </a:rPr>
              <a:t>•  머신러닝: 이진 분류 모델 (정상/사기) — 수억 건 학습 → 정확도 향상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[부록] Unit Economics 심화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핀테크 투자/평가에서 핵심 지표인 단위 경제성 계산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40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30352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LTV 고급 모델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574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Pretendard"/>
              </a:rPr>
              <a:t>LTV = (ARPU × Gross Margin) ÷ Churn Rate
예: ARPU 5,000원 × 70% ÷ 4%
    = 87,500원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508760"/>
            <a:ext cx="5303520" cy="25603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6002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Pretendard"/>
              </a:rPr>
              <a:t>CAC 분해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35040" y="20574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F2937"/>
                </a:solidFill>
                <a:latin typeface="Pretendard"/>
              </a:rPr>
              <a:t>CAC = (마케팅비 + 영업비) ÷ 신규 유료 고객 수
예: 1억 5천만원 ÷ 50,000명
    = 3,000원/명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206240"/>
            <a:ext cx="1161288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7939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LTV/CAC &lt;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27939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위험 — 돈 잃으며 성장 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709159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4709159"/>
            <a:ext cx="3200400" cy="457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78231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LTV/CAC 1~3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478231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주의 — 효율 개선 필요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5212079"/>
            <a:ext cx="11612880" cy="4572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5212079"/>
            <a:ext cx="320040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5285231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LTV/CAC &gt;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285231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건강 — 지속 투자 가능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715000"/>
            <a:ext cx="116128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74320" y="5715000"/>
            <a:ext cx="3200400" cy="457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57881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Pretendard"/>
              </a:rPr>
              <a:t>LTV/CAC &gt; 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5788152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확장 — 마케팅 투자 여력 충분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[부록] 핀테크 데이터 파이프라인 구조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"데이터 파이프라인이 없으면 분석도 없다"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41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0" y="22860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Pretendard"/>
              </a:rPr>
              <a:t>↓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1161288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508760"/>
            <a:ext cx="109728" cy="7772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6002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Pretendard"/>
              </a:rPr>
              <a:t>📱 데이터 소스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16002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앱 이벤트 / 결제 시스템 / 고객 DB / 외부 신용 데이터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52160" y="32461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Pretendard"/>
              </a:rPr>
              <a:t>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468880"/>
            <a:ext cx="1161288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2468880"/>
            <a:ext cx="109728" cy="77724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560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Pretendard"/>
              </a:rPr>
              <a:t>📡 수집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25603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Amplitude SDK · 서버 이벤트 → Event Tracking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206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Pretendard"/>
              </a:rPr>
              <a:t>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429000"/>
            <a:ext cx="1161288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74320" y="3429000"/>
            <a:ext cx="109728" cy="7772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520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Pretendard"/>
              </a:rPr>
              <a:t>🗄 저장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5204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Data Warehouse: BigQuery · Snowflake · Redshift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0" y="51663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4A3B8"/>
                </a:solidFill>
                <a:latin typeface="Pretendard"/>
              </a:rPr>
              <a:t>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89120"/>
            <a:ext cx="1161288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74320" y="4389120"/>
            <a:ext cx="109728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480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Pretendard"/>
              </a:rPr>
              <a:t>🔍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83280" y="44805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Amplitude (행동 분석) + Looker Studio (BI) + SQL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5349240"/>
            <a:ext cx="11612880" cy="77724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74320" y="5349240"/>
            <a:ext cx="109728" cy="7772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5440679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Pretendard"/>
              </a:rPr>
              <a:t>💡 활용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5440679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Pretendard"/>
              </a:rPr>
              <a:t>마케팅 세그먼트 · 제품 개선 · 리스크 관리 · 경영 보고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Pretendard"/>
              </a:rPr>
              <a:t>[부록] 핀테크 분석가 커리어 패스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  <a:latin typeface="Pretendard"/>
              </a:rPr>
              <a:t>오늘 배운 역량이 어떤 직무로 연결되는가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0" y="64922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  <a:latin typeface="Pretendard"/>
              </a:rPr>
              <a:t>42 / 45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508760"/>
            <a:ext cx="566928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508760"/>
            <a:ext cx="91440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81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563EB"/>
                </a:solidFill>
                <a:latin typeface="Pretendard"/>
              </a:rPr>
              <a:t>그로스 분석가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Growth Analyst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Pretendard"/>
              </a:rPr>
              <a:t>MAU/CAC/LTV 분석, 그로스 실험 설계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508760"/>
            <a:ext cx="566928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91440" cy="9144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58191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  <a:latin typeface="Pretendard"/>
              </a:rPr>
              <a:t>프로덕트 분석가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9659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Product Analyst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1737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Pretendard"/>
              </a:rPr>
              <a:t>퍼널·리텐션·코호트, UX 최적화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606039"/>
            <a:ext cx="566928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74320" y="2606039"/>
            <a:ext cx="91440" cy="9144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67919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Pretendard"/>
              </a:rPr>
              <a:t>BI 분석가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063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Business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2834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Pretendard"/>
              </a:rPr>
              <a:t>경영진 대시보드, 데이터 시각화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606039"/>
            <a:ext cx="566928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2606039"/>
            <a:ext cx="91440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2679191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Pretendard"/>
              </a:rPr>
              <a:t>데이터 사이언티스트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063239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Data Scientist (Fintech)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28346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Pretendard"/>
              </a:rPr>
              <a:t>신용평가 모델, 사기 탐지 AI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0" y="3703320"/>
            <a:ext cx="5669280" cy="9144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00400" y="3703320"/>
            <a:ext cx="91440" cy="9144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29000" y="3776472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  <a:latin typeface="Pretendard"/>
              </a:rPr>
              <a:t>전략 기획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4160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Pretendard"/>
              </a:rPr>
              <a:t>Strategy Planning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9319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2937"/>
                </a:solidFill>
                <a:latin typeface="Pretendard"/>
              </a:rPr>
              <a:t>비즈니스 모델 분석, M&amp;A 실사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57607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Pretendard"/>
              </a:rPr>
              <a:t>필수 역량: SQL · Python(pandas) · BI 도구 · 금융 도메인 이해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4320" y="612648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Pretendard"/>
              </a:rPr>
              <a:t>포트폴리오: Kaggle · Dacon · 공공데이터포털 오픈 데이터 활용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 i="0">
                <a:solidFill>
                  <a:srgbClr val="FFFFFF"/>
                </a:solidFill>
                <a:latin typeface="Pretendard"/>
              </a:rPr>
              <a:t>Q &amp;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94A3B8"/>
                </a:solidFill>
                <a:latin typeface="Pretendard"/>
              </a:rPr>
              <a:t>질문은 언제든지 환영합니다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Pretendard"/>
              </a:rPr>
              <a:t>강의 자료 및 샘플 데이터 공유: 구글 드라이브 링크 (강사가 현장 공유)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Pretendard"/>
              </a:rPr>
              <a:t>연락처: 슬랙 채널 / 이메일 (강사 입력)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64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Pretendard"/>
              </a:rPr>
              <a:t>HULK × PEPPER  ·  Jarvis System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