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4114800" cy="685800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맑은 고딕"/>
              </a:rPr>
              <a:t>CleverTap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0BCD4"/>
                </a:solidFill>
                <a:latin typeface="맑은 고딕"/>
              </a:rPr>
              <a:t>한국어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BDEFB"/>
                </a:solidFill>
                <a:latin typeface="맑은 고딕"/>
              </a:rPr>
              <a:t>차세대 고객 인게이지먼트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50292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DEFB"/>
                </a:solidFill>
                <a:latin typeface="맑은 고딕"/>
              </a:rPr>
              <a:t>2,000+ 글로벌 브랜드의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CAF9"/>
                </a:solidFill>
                <a:latin typeface="맑은 고딕"/>
              </a:rPr>
              <a:t>Powered by CleverAI™ — AI 기반 고객 생애가치 극대화</a:t>
            </a:r>
          </a:p>
        </p:txBody>
      </p:sp>
      <p:pic>
        <p:nvPicPr>
          <p:cNvPr id="11" name="Picture 10" descr="all_in_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38328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909C"/>
                </a:solidFill>
                <a:latin typeface="맑은 고딕"/>
              </a:rPr>
              <a:t>Confidential | © 2025 CleverTap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제안서 구성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029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898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44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CleverTap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회사 개요 및 글로벌 현황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1"/>
            <a:ext cx="5029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488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시장 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고객 인게이지먼트의 중요성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43784"/>
            <a:ext cx="5029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90779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62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핵심 기능 — 데이터 &amp;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1810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실시간 데이터 분석 &amp; 세그멘테이션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02735"/>
            <a:ext cx="5029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6667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2102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핵심 기능 — 옴니채널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5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캠페인 자동화 &amp; 채널 연동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361688"/>
            <a:ext cx="5029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4256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7997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핵심 기능 — CleverAI™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3600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AI/ML 기반 개인화 &amp; 예측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120640"/>
            <a:ext cx="5029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1846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389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핵심 기능 — 리텐션 최적화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949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퍼널 분석 &amp; 생애주기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13898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1344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핀테크 &amp; 금융 적용 사례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16002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도입 성과 및 ROI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084831"/>
            <a:ext cx="502920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21488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글로벌 고객사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235915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2,000+ 브랜드 레퍼런스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2843784"/>
            <a:ext cx="502920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90779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2862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경쟁사 비교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311810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CleverTap vs 경쟁 솔루션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602735"/>
            <a:ext cx="502920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36667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362102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도입 프로세스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877055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온보딩 &amp; 기술 통합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4361688"/>
            <a:ext cx="502920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44256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37997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가격 &amp; 패키지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4636007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도입 옵션 안내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5120640"/>
            <a:ext cx="502920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51846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51389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다음 단계 &amp; CTA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53949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데모 신청 및 문의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CleverTap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회사 개요 및 글로벌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맑은 고딕"/>
              </a:rPr>
              <a:t>올인원 고객 인게이지먼트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7474F"/>
                </a:solidFill>
                <a:latin typeface="맑은 고딕"/>
              </a:rPr>
              <a:t>CleverTap은 '고객 생애가치(CLV)의 한계 없는 성장'을 미션으로</a:t>
            </a:r>
          </a:p>
          <a:p>
            <a:pPr algn="l"/>
            <a:r>
              <a:rPr sz="1300">
                <a:solidFill>
                  <a:srgbClr val="37474F"/>
                </a:solidFill>
                <a:latin typeface="맑은 고딕"/>
              </a:rPr>
              <a:t>설립된 세계 최고의 올인원 고객 인게이지먼트 플랫폼입니다.</a:t>
            </a:r>
          </a:p>
          <a:p>
            <a:pPr algn="l"/>
            <a:r>
              <a:rPr sz="1300">
                <a:solidFill>
                  <a:srgbClr val="37474F"/>
                </a:solidFill>
                <a:latin typeface="맑은 고딕"/>
              </a:rPr>
              <a:t/>
            </a:r>
          </a:p>
          <a:p>
            <a:pPr algn="l"/>
            <a:r>
              <a:rPr sz="1300">
                <a:solidFill>
                  <a:srgbClr val="37474F"/>
                </a:solidFill>
                <a:latin typeface="맑은 고딕"/>
              </a:rPr>
              <a:t>데이터 분석, AI 기반 개인화, 옴니채널 캠페인 자동화를</a:t>
            </a:r>
          </a:p>
          <a:p>
            <a:pPr algn="l"/>
            <a:r>
              <a:rPr sz="1300">
                <a:solidFill>
                  <a:srgbClr val="37474F"/>
                </a:solidFill>
                <a:latin typeface="맑은 고딕"/>
              </a:rPr>
              <a:t>하나의 플랫폼에서 통합 제공합니다.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20116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794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2,000+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글로벌 브랜드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3657600"/>
            <a:ext cx="20116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3794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국가 &amp; 시장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657600"/>
            <a:ext cx="20116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94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10년+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업력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7999" y="3657600"/>
            <a:ext cx="2011680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7999" y="3794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G2 리더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4434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고객 만족 1위</a:t>
            </a:r>
          </a:p>
        </p:txBody>
      </p:sp>
      <p:pic>
        <p:nvPicPr>
          <p:cNvPr id="21" name="Picture 20" descr="ai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931920" cy="21945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74320" y="5303520"/>
            <a:ext cx="859536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7E"/>
                </a:solidFill>
                <a:latin typeface="맑은 고딕"/>
              </a:rPr>
              <a:t>🎯  미션: "사람, 프로세스, 기술을 통합하여 모든 고객 접점에서 최적화된 인게이지먼트를 실현한다"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시장 현황 &amp; 고객 인게이지먼트의 중요성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왜 지금 CleverTap이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411480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09728" cy="2103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  <a:latin typeface="맑은 고딕"/>
              </a:rPr>
              <a:t>📉 고객 이탈 급증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앱 설치 후 30일 내 90%의 사용자가 이탈.
고객 획득 비용(CAC) 급등으로 리텐션 전략이 생존 과제.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71600"/>
            <a:ext cx="411480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109728" cy="2103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508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  <a:latin typeface="맑은 고딕"/>
              </a:rPr>
              <a:t>📊 데이터 사일로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96596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마케팅, CRM, 분석 데이터가 분산되어
통합 고객 뷰 구축 불가능.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411480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109728" cy="2103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  <a:latin typeface="맑은 고딕"/>
              </a:rPr>
              <a:t>🤖 AI 시대의 개인화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고객은 '나를 아는' 경험을 기대.
일괄 메시지는 더 이상 효과 없음.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703320"/>
            <a:ext cx="411480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703320"/>
            <a:ext cx="109728" cy="21031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840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  <a:latin typeface="맑은 고딕"/>
              </a:rPr>
              <a:t>📱 채널 파편화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2976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앱, 웹, 이메일, 카카오, SMS 등
복잡한 채널을 통합 운영해야 하는 부담.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126480"/>
            <a:ext cx="859536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72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✅  CleverTap은 이 모든 문제를 하나의 플랫폼으로 해결합니다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기능 ① — 고객 데이터 &amp;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실시간 빅데이터 기반 세그멘테이션 &amp; 액션 가능한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457200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91440" cy="105156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🔍 자동화된 세그멘테이션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맑은 고딕"/>
              </a:rPr>
              <a:t>수백만 고객을 실시간으로 행동/속성/RFM 기반으로 자동 분류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42032"/>
            <a:ext cx="457200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42032"/>
            <a:ext cx="91440" cy="105156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1518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📊 퍼널 &amp; 코호트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923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맑은 고딕"/>
              </a:rPr>
              <a:t>전환율 병목 구간 즉각 파악, 이탈 지점 정밀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4"/>
            <a:ext cx="457200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12464"/>
            <a:ext cx="91440" cy="105156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8561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⚡ 실시간 이벤트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966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맑은 고딕"/>
              </a:rPr>
              <a:t>초당 수십억 이벤트를 실시간 처리, 즉각적인 인게이지먼트 트리거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82896"/>
            <a:ext cx="4572000" cy="1051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882896"/>
            <a:ext cx="91440" cy="105156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560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맑은 고딕"/>
              </a:rPr>
              <a:t>🎯 액션 가능한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맑은 고딕"/>
              </a:rPr>
              <a:t>KPI 모니터링부터 캠페인 성과까지 단일 뷰에서 확인</a:t>
            </a:r>
          </a:p>
        </p:txBody>
      </p:sp>
      <p:pic>
        <p:nvPicPr>
          <p:cNvPr id="23" name="Picture 22" descr="decis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3749039" cy="3200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74320" y="5989320"/>
            <a:ext cx="8595360" cy="685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CD4"/>
                </a:solidFill>
                <a:latin typeface="맑은 고딕"/>
              </a:rPr>
              <a:t>📈  도입 성과: 5x 리텐션 향상 | 40% 캠페인 CTR 증가 | 90% 세그멘테이션 시간 단축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기능 ② — 옴니채널 캠페인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고객이 있는 모든 채널에서 일관된 메시지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6517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6FC6"/>
                </a:solidFill>
                <a:latin typeface="맑은 고딕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맑은 고딕"/>
              </a:rPr>
              <a:t>푸시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RenderMax™ 기술로
전달율 극대화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6517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6FC6"/>
                </a:solidFill>
                <a:latin typeface="맑은 고딕"/>
              </a:rPr>
              <a:t>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맑은 고딕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AI 기반 최적 발송
시간 자동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6FC6"/>
                </a:solidFill>
                <a:latin typeface="맑은 고딕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맑은 고딕"/>
              </a:rPr>
              <a:t>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대화형 메시지로
높은 오픈율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26517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6FC6"/>
                </a:solidFill>
                <a:latin typeface="맑은 고딕"/>
              </a:rP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맑은 고딕"/>
              </a:rPr>
              <a:t>인앱 메시지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앱 내 타겟 팝업
&amp; 배너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383280"/>
            <a:ext cx="26517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6FC6"/>
                </a:solidFill>
                <a:latin typeface="맑은 고딕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맑은 고딕"/>
              </a:rPr>
              <a:t>웹 메시징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389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웹사이트 방문자
실시간 인게이지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383280"/>
            <a:ext cx="265176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520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6FC6"/>
                </a:solidFill>
                <a:latin typeface="맑은 고딕"/>
              </a:rPr>
              <a:t>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  <a:latin typeface="맑은 고딕"/>
              </a:rPr>
              <a:t>SMS / RCS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389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도달 보장 채널
풍부한 미디어 지원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89320"/>
            <a:ext cx="8595360" cy="68580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🧠  IntelliNODE™: AI가 각 고객에게 가장 효과적인 채널 &amp; 시간 &amp; 메시지를 자동 선택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기능 ③ — CleverAI™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AI · ML · Generative AI · Agentic AI — 4세대 인공지능 인게이지먼트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651760" cy="192024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6517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CD4"/>
                </a:solidFill>
                <a:latin typeface="맑은 고딕"/>
              </a:rPr>
              <a:t>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84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Predictive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3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고객 이탈 예측, LTV 예측,
최적 발송 시간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651760" cy="192024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6517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CD4"/>
                </a:solidFill>
                <a:latin typeface="맑은 고딕"/>
              </a:rPr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84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Generative AI (Scribe™)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3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클릭 한 번으로 캠페인 카피
자동 생성 — A/B 변형 포함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25880"/>
            <a:ext cx="2651760" cy="192024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25880"/>
            <a:ext cx="26517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CD4"/>
                </a:solidFill>
                <a:latin typeface="맑은 고딕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842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Agentic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39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자율 실행 에이전트가
24/7 캠페인 최적화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83280"/>
            <a:ext cx="2651760" cy="192024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26517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CD4"/>
                </a:solidFill>
                <a:latin typeface="맑은 고딕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41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AI 세그멘테이션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34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머신러닝이 고가치 고객군을
자동 발굴 &amp; 업데이트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383280"/>
            <a:ext cx="2651760" cy="192024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383280"/>
            <a:ext cx="26517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CD4"/>
                </a:solidFill>
                <a:latin typeface="맑은 고딕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041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예측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434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다음 구매 가능성, 이탈 위험도,
업셀 기회를 실시간 스코어링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383280"/>
            <a:ext cx="2651760" cy="192024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383280"/>
            <a:ext cx="26517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566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CD4"/>
                </a:solidFill>
                <a:latin typeface="맑은 고딕"/>
              </a:rPr>
              <a:t>⚙️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041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자동 최적화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348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캠페인 성과를 학습하여
지속적으로 전략 개선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핵심 기능 ④ — 리텐션 &amp; 생애주기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고객을 오래, 더 깊이 — 전환율과 리텐션을 동시에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1554480" cy="25603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획득
Acquire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신규 가입자
온보딩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371600"/>
            <a:ext cx="1554480" cy="2560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15087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활성화
Activate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첫 핵심행동
유도 &amp;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4176" y="1371600"/>
            <a:ext cx="1554480" cy="256032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15087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유지
Retain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재방문 유도
이탈 방지 캠페인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9824" y="1371600"/>
            <a:ext cx="1554480" cy="2560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5544" y="15087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성장
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업셀 &amp; 크로스셀
수익 극대화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371600"/>
            <a:ext cx="1554480" cy="25603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15087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복구
Win-back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23774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이탈 고객
재활성화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7E"/>
                </a:solidFill>
                <a:latin typeface="맑은 고딕"/>
              </a:rPr>
              <a:t>실험 &amp; 최적화 (Experimentation)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572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✅  A/B 테스트 &amp; 멀티배리에이트 테스트 내장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572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✅  실시간 실험 결과 모니터링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074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✅  통계적 유의성 자동 판별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074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74F"/>
                </a:solidFill>
                <a:latin typeface="맑은 고딕"/>
              </a:rPr>
              <a:t>✅  위닝 배리언트 자동 적용</a:t>
            </a:r>
          </a:p>
        </p:txBody>
      </p:sp>
      <p:pic>
        <p:nvPicPr>
          <p:cNvPr id="31" name="Picture 30" descr="platform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23360"/>
            <a:ext cx="24688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핀테크 &amp; 금융 업계 적용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실제 도입 성과 — 수익 성장부터 운영 효율화까지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71600"/>
            <a:ext cx="27889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2788920" cy="45720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APLAZO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6FC6"/>
                </a:solidFill>
                <a:latin typeface="맑은 고딕"/>
              </a:rPr>
              <a:t>🏦 핀테크 — BNPL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🇲🇽 멕시코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514600" cy="77724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786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50%+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장바구니 이탈 복구율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29000"/>
            <a:ext cx="2514600" cy="7772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472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6FC6"/>
                </a:solidFill>
                <a:latin typeface="맑은 고딕"/>
              </a:rPr>
              <a:t>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502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7474F"/>
                </a:solidFill>
                <a:latin typeface="맑은 고딕"/>
              </a:rPr>
              <a:t>운영 업무 자동화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CleverTap의 자동화 캠페인으로 이탈 고객을 적시에 재활성화. 마케팅 팀의 운영 부담 94% 감소.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371600"/>
            <a:ext cx="27889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0" y="1371600"/>
            <a:ext cx="2788920" cy="457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417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M-KOPA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CD4"/>
                </a:solidFill>
                <a:latin typeface="맑은 고딕"/>
              </a:rPr>
              <a:t>💳 핀테크 — 금융포용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1945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🌍 아프리카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560320"/>
            <a:ext cx="2514600" cy="7772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5786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3x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063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전환율 스케일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429000"/>
            <a:ext cx="2514600" cy="7772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4472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CD4"/>
                </a:solidFill>
                <a:latin typeface="맑은 고딕"/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9502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7474F"/>
                </a:solidFill>
                <a:latin typeface="맑은 고딕"/>
              </a:rPr>
              <a:t>캠페인 실행시간 단축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297680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개인화 인게이지먼트로 비은행권 고객 전환을 3배 확대. 캠페인 실행 속도 대폭 향상.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371600"/>
            <a:ext cx="27889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371600"/>
            <a:ext cx="2788920" cy="45720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4173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Banco Promerica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92024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8B45"/>
                </a:solidFill>
                <a:latin typeface="맑은 고딕"/>
              </a:rPr>
              <a:t>🏛️ 은행 — 디지털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1945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7474F"/>
                </a:solidFill>
                <a:latin typeface="맑은 고딕"/>
              </a:rPr>
              <a:t>🇬🇹 과테말라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560320"/>
            <a:ext cx="2514600" cy="77724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5786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105%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063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대출 실행 증가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429000"/>
            <a:ext cx="2514600" cy="7772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4472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8B45"/>
                </a:solidFill>
                <a:latin typeface="맑은 고딕"/>
              </a:rPr>
              <a:t>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9502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7474F"/>
                </a:solidFill>
                <a:latin typeface="맑은 고딕"/>
              </a:rPr>
              <a:t>디지털 전환율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297680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개인화된 금융 상품 추천과 적시 알림으로 대출 실행 105% 증가 달성.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2,000+ 글로벌 브랜드의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이커머스 · 핀테크 · 미디어 · 통신 · 리테일 전 업종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Picsart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79" y="1371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79" y="1371600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Tata CLIQ Luxury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371600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Times of India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7999" y="137160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7999" y="1371600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Zee5 Global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33472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633472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07791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Vodafone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2633472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79" y="2633472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907791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Circles.Life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633472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2633472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2907791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Banco Promerica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7999" y="2633472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7999" y="2633472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39" y="2907791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APLAZO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95344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895344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16966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M-KOPA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79" y="3895344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79" y="3895344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416966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Ooredoo Qatar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895344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3895344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416966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HUFT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7999" y="3895344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7999" y="3895344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39" y="416966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WalaPlus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57216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5157216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43153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TMOV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79" y="5157216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68879" y="5157216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543153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Eden 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5157216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5157216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79" y="543153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Mobile Premier League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7999" y="5157216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57999" y="5157216"/>
            <a:ext cx="2011680" cy="54864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39" y="543153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맑은 고딕"/>
              </a:rPr>
              <a:t>Chakkizza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6446520"/>
            <a:ext cx="8595360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맑은 고딕"/>
              </a:rPr>
              <a:t>주요 산업군:  이커머스  |  핀테크  |  미디어/엔터  |  통신  |  리테일  |  여행/물류  |  HR테크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경쟁사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CleverTap vs 주요 마케팅 자동화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25880"/>
            <a:ext cx="877824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기능 / 역량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716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CleverTap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3716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Braze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13716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MoEngage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371600"/>
            <a:ext cx="1463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Adobe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28800"/>
            <a:ext cx="87782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92024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올인원 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2024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완전 통합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92024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⚡ 채널 강세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192024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통합형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2024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복잡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441448"/>
            <a:ext cx="8778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253288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AI/ML 기능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53288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CleverAI™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53288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있음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53288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53288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Sensei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054096"/>
            <a:ext cx="87782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145536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실시간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145536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초당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145536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실시간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3145536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실시간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145536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지연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666744"/>
            <a:ext cx="8778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3758183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핀테크 특화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758183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전문 사례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3758183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일반형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59" y="3758183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일반형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758183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❌ 엔터급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279392"/>
            <a:ext cx="87782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4370831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구현 난이도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370831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쉬움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4370831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중간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59" y="4370831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쉬움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370831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❌ 어려움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4892040"/>
            <a:ext cx="8778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4983479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가격 경쟁력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498347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합리적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59" y="498347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고가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498347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합리적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98347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❌ 고가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5504688"/>
            <a:ext cx="877824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55961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한국어/아시아 지원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559612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FC6"/>
                </a:solidFill>
                <a:latin typeface="맑은 고딕"/>
              </a:rPr>
              <a:t>✅ 강력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559612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제한적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59" y="559612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✅ 있음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596128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7474F"/>
                </a:solidFill>
                <a:latin typeface="맑은 고딕"/>
              </a:rPr>
              <a:t>⚠️ 제한적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6126480"/>
            <a:ext cx="8778240" cy="5486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19963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맑은 고딕"/>
              </a:rPr>
              <a:t>🏆  CleverTap은 올인원 통합 · AI 역량 · 합리적 가격 · 아시아 특화 지원에서 경쟁 우위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도입 프로세스 &amp; 기술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빠르고 안전한 온보딩 — 평균 4~6주 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371600"/>
            <a:ext cx="1600200" cy="365760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05740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킥오프 &amp; 요구사항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8803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비즈니스 목표 정의
현재 시스템 분석
KPI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216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371600"/>
            <a:ext cx="1600200" cy="36576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5740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SDK &amp; 데이터 연동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8803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iOS/Android/Web SDK 설치
이벤트 태깅 &amp; 검증
CRM 데이터 마이그레이션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371600"/>
            <a:ext cx="1600200" cy="3657600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05740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세그멘테이션 &amp; 캠페인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803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초기 세그먼트 정의
첫 캠페인 구성
A/B 테스트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1371600"/>
            <a:ext cx="1600200" cy="36576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05740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파일럿 런치 &amp;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8803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소규모 파일럿 실행
성과 측정 &amp; 피드백
최적화 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9260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1371600"/>
            <a:ext cx="1600200" cy="3657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4630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05740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전체 롤아웃 &amp;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880360"/>
            <a:ext cx="1508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전사 확대 적용
팀 교육 &amp; 전문가 지원
지속적 최적화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5212080"/>
            <a:ext cx="87782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035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맑은 고딕"/>
              </a:rPr>
              <a:t>🔗 기술 통합 지원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15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✅ REST API &amp; Webhook 완전 지원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715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✅ iOS / Android / Web / React Native / Flutter SDK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0167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✅ Salesforce, HubSpot, Segment, Amplitude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0167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✅ Google Analytics, BigQuery, Snowflake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185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✅ AWS, GCP, Azure 클라우드 호환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63185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✅ 전담 기술 지원팀 (한국어 지원)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가격 정책 &amp; 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CD4"/>
                </a:solidFill>
                <a:latin typeface="맑은 고딕"/>
              </a:rPr>
              <a:t>비즈니스 규모에 맞는 유연한 플랜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788920" cy="4846320"/>
          </a:xfrm>
          <a:prstGeom prst="rect">
            <a:avLst/>
          </a:prstGeom>
          <a:solidFill>
            <a:srgbClr val="006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스타트업 · 초기 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194560"/>
            <a:ext cx="2514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2402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FC6"/>
                </a:solidFill>
                <a:latin typeface="맑은 고딕"/>
              </a:rPr>
              <a:t>맞춤 견적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26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핵심 분석 &amp; 세그멘테이션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1071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푸시 · 인앱 · 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8953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기본 A/B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799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표준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864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이메일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280160"/>
            <a:ext cx="2788920" cy="4846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3716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성장 단계 기업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2194560"/>
            <a:ext cx="2514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79" y="22402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  <a:latin typeface="맑은 고딕"/>
              </a:rPr>
              <a:t>맞춤 견적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2926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모든 Essentials 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41071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옴니채널 자동화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38953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CleverAI™ 기본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43799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고급 실험 &amp; 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4864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WhatsApp · SMS · RCS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5349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전담 CSM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280160"/>
            <a:ext cx="2788920" cy="4846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13716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18288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대기업 · 금융 · 이커머스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2194560"/>
            <a:ext cx="2514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2402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CD4"/>
                </a:solidFill>
                <a:latin typeface="맑은 고딕"/>
              </a:rPr>
              <a:t>맞춤 견적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260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모든 Advanced 포함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41071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CleverAI™ 풀 기능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89534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자체 데이터센터 옵션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379976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무제한 이벤트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86460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전담 기술지원 &amp; SLA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492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✓  맞춤형 통합 개발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6309360"/>
            <a:ext cx="8778240" cy="411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3550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  <a:latin typeface="맑은 고딕"/>
              </a:rPr>
              <a:t>💡  모든 플랜은 사용량 기반 맞춤 견적 | 연간 계약 할인 제공 | 30일 POC(파일럿) 옵션 가능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지금 시작하세요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  <a:latin typeface="맑은 고딕"/>
              </a:rPr>
              <a:t>CleverTap으로 고객 생애가치를 무한히 성장시키세요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828800"/>
            <a:ext cx="2011680" cy="228600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828800"/>
            <a:ext cx="201168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BCD4"/>
                </a:solidFill>
                <a:latin typeface="맑은 고딕"/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무료 데모 신청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4436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30분 맞춤 데모로
플랫폼을 직접 확인하세요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828800"/>
            <a:ext cx="2011680" cy="228600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828800"/>
            <a:ext cx="201168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79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BCD4"/>
                </a:solidFill>
                <a:latin typeface="맑은 고딕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POC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94436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30일 무료 파일럿으로
실제 성과를 검증하세요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828800"/>
            <a:ext cx="2011680" cy="228600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1828800"/>
            <a:ext cx="201168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BCD4"/>
                </a:solidFill>
                <a:latin typeface="맑은 고딕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기술 컨설팅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4436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아키텍처 &amp; 통합 방안을
전문가와 논의하세요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79" y="1828800"/>
            <a:ext cx="2011680" cy="2286000"/>
          </a:xfrm>
          <a:prstGeom prst="rect">
            <a:avLst/>
          </a:prstGeom>
          <a:solidFill>
            <a:srgbClr val="1E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79" y="1828800"/>
            <a:ext cx="2011680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7999" y="1965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0BCD4"/>
                </a:solidFill>
                <a:latin typeface="맑은 고딕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25420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맞춤 견적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2944368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맑은 고딕"/>
              </a:rPr>
              <a:t>비즈니스 규모에 맞는
최적 플랜을 제안받으세요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8595360" cy="1371600"/>
          </a:xfrm>
          <a:prstGeom prst="rect">
            <a:avLst/>
          </a:prstGeom>
          <a:solidFill>
            <a:srgbClr val="0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CD4"/>
                </a:solidFill>
                <a:latin typeface="맑은 고딕"/>
              </a:rPr>
              <a:t>📞 문의하기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🌐 clevertap.com  |  📧 contact@clevertap.com  |  데모 신청: clevertap.com/request-demo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21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CAF9"/>
                </a:solidFill>
                <a:latin typeface="맑은 고딕"/>
              </a:rPr>
              <a:t>한국 파트너: 도입 문의 및 기술 지원은 현지 파트너를 통해 제공됩니다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877824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>
                <a:solidFill>
                  <a:srgbClr val="1A237E"/>
                </a:solidFill>
                <a:latin typeface="맑은 고딕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CD4"/>
                </a:solidFill>
                <a:latin typeface="맑은 고딕"/>
              </a:rPr>
              <a:t>질문이 있으신가요?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7474F"/>
                </a:solidFill>
                <a:latin typeface="맑은 고딕"/>
              </a:rPr>
              <a:t>CleverTap과 함께라면, 고객 인게이지먼트의 한계는 없습니다.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737360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2,000+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글로벌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931920"/>
            <a:ext cx="1737360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97763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리텐션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931920"/>
            <a:ext cx="1737360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CTR 증가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931920"/>
            <a:ext cx="1737360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397763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CD4"/>
                </a:solidFill>
                <a:latin typeface="맑은 고딕"/>
              </a:rPr>
              <a:t>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617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운영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6FC6"/>
                </a:solidFill>
                <a:latin typeface="맑은 고딕"/>
              </a:rPr>
              <a:t>clevertap.com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BBBB"/>
                </a:solidFill>
                <a:latin typeface="맑은 고딕"/>
              </a:rPr>
              <a:t>© 2025 CleverTap Inc. All rights reserved.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BBBBB"/>
                </a:solidFill>
                <a:latin typeface="맑은 고딕"/>
              </a:rPr>
              <a:t>CleverTap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