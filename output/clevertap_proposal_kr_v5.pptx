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tx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63040"/>
            <a:ext cx="5120640" cy="28803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675120" y="5349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 홈페이지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65760"/>
            <a:ext cx="1828800" cy="4114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93192"/>
            <a:ext cx="1737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71600"/>
            <a:ext cx="5943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176272"/>
            <a:ext cx="5943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9B8AFF"/>
                </a:solidFill>
                <a:latin typeface="Malgun Gothic"/>
              </a:rPr>
              <a:t>솔루션 제안서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108960"/>
            <a:ext cx="2926080" cy="36576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모바일 마케팅 자동화 &amp; 실시간 고객 인게이지먼트 플랫폼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글로벌 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23160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14600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14600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79" y="4572000"/>
            <a:ext cx="1645920" cy="9144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19" y="466344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100+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19" y="507492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서비스 국가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30936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6C758D"/>
                </a:solidFill>
                <a:latin typeface="Malgun Gothic"/>
              </a:rPr>
              <a:t>2026년 4월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5486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algun Gothic"/>
              </a:rPr>
              <a:t>목 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9B8AFF"/>
                </a:solidFill>
                <a:latin typeface="Malgun Gothic"/>
              </a:rPr>
              <a:t>CONTENTS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60020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16276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0432" y="155448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CleverTap 소개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60020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19088" y="162763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31152" y="155448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주요 글로벌 고객사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25856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28600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0432" y="22128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핵심 가치 제안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25856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19088" y="228600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31152" y="221284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제품 아키텍처 개요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16935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2944367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" y="287121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실시간 분석 (Analytics)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916935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2944367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1152" y="2871215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사용자 세그멘테이션 &amp; 개인화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575304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8368" y="3602736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35295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멀티채널 인게이지먼트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3575304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19088" y="3602736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31152" y="3529584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AI/ML 기반 개인화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233672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8368" y="4261104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09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70432" y="418795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A/B 테스트 &amp; 최적화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4233672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19088" y="4261104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931152" y="4187952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핀테크/금융 활용 사례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489204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8368" y="491947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70432" y="48463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효과 &amp; ROI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4892040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19088" y="4919472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846320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도입 프로세스 &amp; 타임라인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5550408"/>
            <a:ext cx="438912" cy="43891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" y="5577840"/>
            <a:ext cx="402336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13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70432" y="5504688"/>
            <a:ext cx="5029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  <a:latin typeface="Malgun Gothic"/>
              </a:rPr>
              <a:t>가격 정책 &amp; 다음 단계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01  CleverTap 소개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모바일 마케팅 자동화의 글로벌 리더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3035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4F4F8"/>
                </a:solidFill>
                <a:latin typeface="Malgun Gothic"/>
              </a:rPr>
              <a:t>CleverTap은 2013년 설립된 글로벌 모바일 마케팅 자동화 &amp; 분석 플랫폼으로,
앱 비즈니스가 사용자를 유지하고 성장시킬 수 있도록 돕는 올인원 솔루션입니다.
실시간 행동 데이터를 기반으로 개인화된 메시지를 적시에 전달하여
고객 참여도와 매출을 극대화합니다.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2013년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설립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6888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10,000+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글로벌 고객사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120" y="356616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356616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0" y="367588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80560" y="413308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국가 서비스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12조+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월간 이벤트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6888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6888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56032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600+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56032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임직원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120" y="4754880"/>
            <a:ext cx="1737360" cy="10058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89120" y="4754880"/>
            <a:ext cx="17373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80560" y="4864608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9B8AFF"/>
                </a:solidFill>
                <a:latin typeface="Malgun Gothic"/>
              </a:rPr>
              <a:t>$105M+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532180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C758D"/>
                </a:solidFill>
                <a:latin typeface="Malgun Gothic"/>
              </a:rPr>
              <a:t>누적 투자</a:t>
            </a:r>
          </a:p>
        </p:txBody>
      </p:sp>
      <p:pic>
        <p:nvPicPr>
          <p:cNvPr id="32" name="Picture 31" descr="ctx_int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 — 올인원 플랫폼 개요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02  주요 글로벌 고객사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전 세계 10,000+ 앱이 CleverTap을 신뢰합니다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31520" y="17556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7647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574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Jio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인도 최대 통신사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566160" y="16459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749040" y="17556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67328" y="17647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이커머스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9040" y="20574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Swiggy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40" y="2468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푸드 딜리버리 1위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2461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32461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3558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33649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핀테크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3657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PhonePe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UPI 결제 플랫폼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32461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566160" y="32461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749040" y="33558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67328" y="33649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금융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49040" y="36576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Axis Bank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9040" y="4069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인도 3대 민간은행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48463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8463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" y="49560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9808" y="49651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미디어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257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Disney+ Hotstar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669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OTT 스트리밍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48463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66160" y="4846320"/>
            <a:ext cx="91440" cy="14173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49040" y="4956048"/>
            <a:ext cx="685800" cy="2286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767328" y="4965192"/>
            <a:ext cx="64922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Malgun Gothic"/>
              </a:rPr>
              <a:t>통신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49040" y="5257800"/>
            <a:ext cx="2468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Malgun Gothic"/>
              </a:rPr>
              <a:t>Vodafone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49040" y="56692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</a:t>
            </a:r>
          </a:p>
        </p:txBody>
      </p:sp>
      <p:pic>
        <p:nvPicPr>
          <p:cNvPr id="43" name="Picture 42" descr="ctx_custom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6492240" y="635508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clevertap.com/customers — 글로벌 고객사 현황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03  핵심 가치 제안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왜 CleverTap인가?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올인원 플랫폼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분석→세그멘테이션→캠페인→최적화
하나의 플랫폼에서 완결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164592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64592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7830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실시간 처리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19456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초당 수백만 이벤트 실시간 처리
즉각적인 의사결정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9184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9184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AI 기반 개인화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84048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ML 알고리즘으로 최적 메시지 자동 전달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29184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92240" y="329184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34290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멀티채널 통합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푸시/이메일/SMS/인앱/WhatsApp 단일 관리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93776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93776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074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강력한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8640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퍼널·코호트·플로우 분석 깊이 있는 인사이트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92240" y="4937760"/>
            <a:ext cx="5577840" cy="146304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92240" y="4937760"/>
            <a:ext cx="557784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507492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Malgun Gothic"/>
              </a:rPr>
              <a:t>엔터프라이즈 보안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486400"/>
            <a:ext cx="521208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4F4F8"/>
                </a:solidFill>
                <a:latin typeface="Malgun Gothic"/>
              </a:rPr>
              <a:t>SOC2·GDPR·ISO27001 금융 수준 보안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04  제품 아키텍처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수집부터 실행까지 완전 통합 플랫폼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0" cy="86868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" y="192024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78308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수집 레이어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14884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SDK (iOS/Android/Web) · REST API · S3 커넥터 · 서드파티 통합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743200"/>
            <a:ext cx="5486400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74320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92608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78892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데이터 처리 레이어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315468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실시간 스트림 처리 · 사용자 프로필 병합 · 이벤트 저장소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749039"/>
            <a:ext cx="5486400" cy="868680"/>
          </a:xfrm>
          <a:prstGeom prst="rect">
            <a:avLst/>
          </a:prstGeom>
          <a:solidFill>
            <a:srgbClr val="2B4E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749039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931919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794759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분석 &amp; AI 레이어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4160519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행동 분석 · ML 모델 · 예측 세그멘테이션 · 최적 전송 시간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5486400" cy="86868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4754880"/>
            <a:ext cx="347472" cy="86868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4937760"/>
            <a:ext cx="31089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4800600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실행 레이어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166360"/>
            <a:ext cx="4846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4F4F8"/>
                </a:solidFill>
                <a:latin typeface="Malgun Gothic"/>
              </a:rPr>
              <a:t>캠페인 관리 · 멀티채널 전송 · A/B 테스트 · 자동화 워크플로우</a:t>
            </a:r>
          </a:p>
        </p:txBody>
      </p:sp>
      <p:pic>
        <p:nvPicPr>
          <p:cNvPr id="27" name="Picture 26" descr="ctx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clevertap.com/product — 플랫폼 아키텍처 다이어그램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05  실시간 분석 (Analytics)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모든 데이터를 실시간으로 — 즉각적인 비즈니스 인사이트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46504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퍼널 분석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전환율 추적, 이탈 지점 파악, 최적화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코호트 분석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그룹별 리텐션 트렌드 분석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4136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74136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플로우 분석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 탐색 패턴 시각화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15384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이벤트 분석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커스텀 이벤트 실시간 트래킹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56632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6632"/>
            <a:ext cx="45720" cy="713232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피벗 분석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223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다차원 데이터 분석 및 리포팅</a:t>
            </a:r>
          </a:p>
        </p:txBody>
      </p:sp>
      <p:pic>
        <p:nvPicPr>
          <p:cNvPr id="27" name="Picture 26" descr="ctx_analytic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clevertap.com/customer-data-and-analytics — 분석 대시보드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06  사용자 세그멘테이션 &amp;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정밀한 타겟팅으로 관련성 높은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정적 세그먼트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고정 기준으로 사용자 그룹화
연령대·지역·가입일 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3736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동적 세그먼트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0428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실시간 행동에 따라 자동 업데이트
최근 7일 미접속자 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65760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65760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RFM 세그먼트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2452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Recency·Frequency·Monetary 기반
고가치 사용자 자동 식별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657600"/>
            <a:ext cx="265176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0" y="3657600"/>
            <a:ext cx="265176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7947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224528"/>
            <a:ext cx="2377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ML로 이탈 가능성·구매 의향 예측
선제적 대응 자동화</a:t>
            </a:r>
          </a:p>
        </p:txBody>
      </p:sp>
      <p:pic>
        <p:nvPicPr>
          <p:cNvPr id="23" name="Picture 22" descr="ctx_segmentation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clevertap.com/segmentation — 세그멘테이션 빌더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07  멀티채널 인게이지먼트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고객이 있는 모든 채널에서 일관된 경험 제공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45920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783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푸시 알림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94560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iOS/Android 리치 푸시·딥링크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566160" y="1645920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566160" y="1645920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30752" y="17830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30752" y="2194560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드래그&amp;드롭 에디터·AMP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218688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218688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33558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SMS/MMS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3767328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글로벌 통신사 연동·개인화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3218688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66160" y="3218688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30752" y="3355848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인앱 메시지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0752" y="3767328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풀스크린/배너/팝업·인터랙티브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791456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791456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9286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웹 푸시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340096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브라우저 알림·세션 외 재참여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66160" y="4791456"/>
            <a:ext cx="2743200" cy="14173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66160" y="4791456"/>
            <a:ext cx="2743200" cy="4572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30752" y="4928616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Malgun Gothic"/>
              </a:rPr>
              <a:t>WhatsApp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30752" y="5340096"/>
            <a:ext cx="24688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공식 비즈니스 API·챗봇 연동</a:t>
            </a:r>
          </a:p>
        </p:txBody>
      </p:sp>
      <p:pic>
        <p:nvPicPr>
          <p:cNvPr id="31" name="Picture 30" descr="ctx_engagement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clevertap.com/omnichannel-engagement — 캠페인 실행 화면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08  AI/ML 기반 개인화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머신러닝으로 구현하는 1:1 초개인화 마케팅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46504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Clever.AI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CleverTap 독자 AI 엔진 — 고객 행동 학습·예측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532888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532888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587752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최적 전송 시간 (STO)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사용자별 최적 수신 시간 자동 선택 → 오픈율 47% 향상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74136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374136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429000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예측 세그먼트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39896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이탈·구매·구독 해지 사전 예측 → 선제 대응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215384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215384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270248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동적 콘텐츠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581144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프로필 기반 실시간 콘텐츠 변환 · 제품 추천 자동화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056632"/>
            <a:ext cx="5212080" cy="71323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056632"/>
            <a:ext cx="45720" cy="713232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5111496"/>
            <a:ext cx="2194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422392"/>
            <a:ext cx="4754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이탈 위험 감지 → 재참여 캠페인 자동 트리거</a:t>
            </a:r>
          </a:p>
        </p:txBody>
      </p:sp>
      <p:pic>
        <p:nvPicPr>
          <p:cNvPr id="27" name="Picture 26" descr="ctx_ai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clevertap.com/ai — CleverAI Decisioning Engine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09  A/B 테스트 &amp; 최적화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데이터 기반 의사결정으로 마케팅 성과 극대화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메시지 A/B 테스트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30428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제목·본문·CTA·이미지·이모지 테스트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737360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0" y="1737360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18745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전송 시간 테스트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2304288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요일·시간대별 성과 비교 및 최적화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20439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20439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65759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채널 A/B 테스트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087367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푸시 vs 이메일 vs SMS 효과 측정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74720" y="3520439"/>
            <a:ext cx="2651760" cy="160020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74720" y="3520439"/>
            <a:ext cx="2651760" cy="4572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3657599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자동 승자 선택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1880" y="4087367"/>
            <a:ext cx="23774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통계적 유의성 기반 자동 선택 · 트래픽 손실 최소화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47%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오픈율 향상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4600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06040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32%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06040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전환율 개선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480559" y="5394960"/>
            <a:ext cx="1737360" cy="10515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1999" y="548640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 i="0">
                <a:solidFill>
                  <a:srgbClr val="00C985"/>
                </a:solidFill>
                <a:latin typeface="Malgun Gothic"/>
              </a:rPr>
              <a:t>2.3배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1999" y="6035040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ROI 증가</a:t>
            </a:r>
          </a:p>
        </p:txBody>
      </p:sp>
      <p:pic>
        <p:nvPicPr>
          <p:cNvPr id="32" name="Picture 31" descr="ctx_a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clevertap.com/ab-testing — A/B 실험 설정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10  핀테크/금융 업계 활용 사례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금융 서비스에 최적화된 마케팅 자동화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691640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55648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신규 가입 온보딩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7일 온보딩 시나리오 · 첫 거래 유도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24328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24328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688336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KYC 완료 독려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035808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미완료 사용자 자동 리마인드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557016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557016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621024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투자 상품 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68496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거래 이력 기반 AI 상품 추천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489704"/>
            <a:ext cx="5303520" cy="804672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4489704"/>
            <a:ext cx="45720" cy="804672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4553712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Malgun Gothic"/>
              </a:rPr>
              <a:t>이탈 방지 캠페인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90118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C758D"/>
                </a:solidFill>
                <a:latin typeface="Malgun Gothic"/>
              </a:rPr>
              <a:t>30일 미거래 사용자 자동 감지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0060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937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40%  신규 가입 전환율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91840" y="480060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83280" y="493776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28%  KYC 완료율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76072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897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3.2배  온보딩 ROI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91840" y="5760720"/>
            <a:ext cx="2468880" cy="82296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83280" y="58978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C985"/>
                </a:solidFill>
                <a:latin typeface="Malgun Gothic"/>
              </a:rPr>
              <a:t>65%  이탈 방지율</a:t>
            </a:r>
          </a:p>
        </p:txBody>
      </p:sp>
      <p:pic>
        <p:nvPicPr>
          <p:cNvPr id="31" name="Picture 30" descr="ctx_analytics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554480"/>
            <a:ext cx="5212080" cy="2931795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6492240" y="61722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6C758D"/>
                </a:solidFill>
                <a:latin typeface="Malgun Gothic"/>
              </a:rPr>
              <a:t>clevertap.com/solutions/fintech — 핀테크 활용 사례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11  도입 효과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측정된 성과 — 실제 고객사 기준 평균 수치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43%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리텐션율 향상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이탈 방지 캠페인 적용 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4340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2.8배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마케팅 ROI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전통 채널 대비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173736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173736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92024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62%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69748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인게이지먼트 증가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310896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개인화 메시지 적용 후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30%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비용 절감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자동화로 운영 효율 개선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4340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34340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484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5배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캠페인 실행 속도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수동 대비 자동화 효과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38160" y="3931920"/>
            <a:ext cx="3474720" cy="19659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138160" y="3931920"/>
            <a:ext cx="3474720" cy="45720"/>
          </a:xfrm>
          <a:prstGeom prst="rect">
            <a:avLst/>
          </a:prstGeom>
          <a:solidFill>
            <a:srgbClr val="00C9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4114800"/>
            <a:ext cx="3291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00C985"/>
                </a:solidFill>
                <a:latin typeface="Malgun Gothic"/>
              </a:rPr>
              <a:t>93%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89204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Malgun Gothic"/>
              </a:rPr>
              <a:t>고객 만족도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303520"/>
            <a:ext cx="3291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NPS 기준 도입사 평균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12  도입 프로세스 &amp; 타임라인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빠르고 안전한 구축 — 평균 4주 내 라이브</a:t>
            </a:r>
          </a:p>
        </p:txBody>
      </p:sp>
      <p:sp>
        <p:nvSpPr>
          <p:cNvPr id="7" name="Rectangle 6"/>
          <p:cNvSpPr/>
          <p:nvPr/>
        </p:nvSpPr>
        <p:spPr>
          <a:xfrm>
            <a:off x="1097280" y="3200400"/>
            <a:ext cx="10058400" cy="54864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73736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킥오프 &amp; 설계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요구사항 정의
SDK 통합 계획
이벤트 텍소노미 설계</a:t>
            </a:r>
          </a:p>
        </p:txBody>
      </p:sp>
      <p:sp>
        <p:nvSpPr>
          <p:cNvPr id="13" name="Oval 12"/>
          <p:cNvSpPr/>
          <p:nvPr/>
        </p:nvSpPr>
        <p:spPr>
          <a:xfrm>
            <a:off x="457200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SDK 통합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iOS/Android SDK 설치
이벤트 태깅
데이터 검증</a:t>
            </a:r>
          </a:p>
        </p:txBody>
      </p:sp>
      <p:sp>
        <p:nvSpPr>
          <p:cNvPr id="18" name="Oval 17"/>
          <p:cNvSpPr/>
          <p:nvPr/>
        </p:nvSpPr>
        <p:spPr>
          <a:xfrm>
            <a:off x="740664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173736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208483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캠페인 구성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세그멘테이션 설정
캠페인 템플릿
A/B 테스트 설계</a:t>
            </a:r>
          </a:p>
        </p:txBody>
      </p:sp>
      <p:sp>
        <p:nvSpPr>
          <p:cNvPr id="23" name="Oval 22"/>
          <p:cNvSpPr/>
          <p:nvPr/>
        </p:nvSpPr>
        <p:spPr>
          <a:xfrm>
            <a:off x="10241280" y="3035808"/>
            <a:ext cx="411480" cy="411480"/>
          </a:xfrm>
          <a:prstGeom prst="ellipse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26880" y="3703320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9B8AFF"/>
                </a:solidFill>
                <a:latin typeface="Malgun Gothic"/>
              </a:rPr>
              <a:t>Week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26880" y="4050791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Malgun Gothic"/>
              </a:rPr>
              <a:t>라이브 &amp; 최적화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26880" y="4754880"/>
            <a:ext cx="2560320" cy="17373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418320" y="4864608"/>
            <a:ext cx="23774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첫 캠페인 발송
성과 모니터링
피드백 반영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492240"/>
            <a:ext cx="10972800" cy="274320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6537960"/>
            <a:ext cx="10789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Malgun Gothic"/>
              </a:rPr>
              <a:t>전담 CSM 배정  |  한국어 기술 지원  |  24/7 모니터링  |  온보딩 플레이북 제공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621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Malgun Gothic"/>
              </a:rPr>
              <a:t>13  가격 정책 &amp; 다음 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B8AFF"/>
                </a:solidFill>
                <a:latin typeface="Malgun Gothic"/>
              </a:rPr>
              <a:t>비즈니스 규모에 맞는 유연한 플랜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474720" cy="44805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Essentials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스타트업·MAU 50만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핵심 분석 기능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푸시 + 이메일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기본 세그멘테이션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이메일 지원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1737360"/>
            <a:ext cx="3474720" cy="448056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43400" y="1737360"/>
            <a:ext cx="3474720" cy="329184"/>
          </a:xfrm>
          <a:prstGeom prst="rect">
            <a:avLst/>
          </a:prstGeom>
          <a:solidFill>
            <a:srgbClr val="3D1F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175564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추천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Advanced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Mid-Market·MAU 500만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Essentials 전체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AI 예측 세그먼트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멀티채널 전체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전담 CSM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38160" y="1737360"/>
            <a:ext cx="3474720" cy="448056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214884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Malgun Gothic"/>
              </a:rPr>
              <a:t>Enterprise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2633472"/>
            <a:ext cx="3108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4F4F8"/>
                </a:solidFill>
                <a:latin typeface="Malgun Gothic"/>
              </a:rPr>
              <a:t>대기업·MAU 무제한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3090672"/>
            <a:ext cx="3291840" cy="27432"/>
          </a:xfrm>
          <a:prstGeom prst="rect">
            <a:avLst/>
          </a:prstGeom>
          <a:solidFill>
            <a:srgbClr val="9B8A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32186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Advanced 전체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72160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커스텀 SLA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22452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온프레미스 옵션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472744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Malgun Gothic"/>
              </a:rPr>
              <a:t>  전용 인프라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4922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Malgun Gothic"/>
              </a:rPr>
              <a:t>다음 단계:  1) POC 범위 확정  -&gt;  2) 2주 무료 파일럿  -&gt;  3) 맞춤 견적  -&gt;  4) 계약 및 온보딩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371600" y="1371600"/>
            <a:ext cx="9144000" cy="4389120"/>
          </a:xfrm>
          <a:prstGeom prst="rect">
            <a:avLst/>
          </a:prstGeom>
          <a:solidFill>
            <a:srgbClr val="2D2D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371600" y="1371600"/>
            <a:ext cx="9144000" cy="64008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182880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Malgun Gothic"/>
              </a:rPr>
              <a:t>지금 바로 시작하세요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6974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9B8AFF"/>
                </a:solidFill>
                <a:latin typeface="Malgun Gothic"/>
              </a:rPr>
              <a:t>2주 무료 파일럿 프로그램 신청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91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F4F4F8"/>
                </a:solidFill>
                <a:latin typeface="Malgun Gothic"/>
              </a:rPr>
              <a:t>실제 데이터로 CleverTap의 가치를 직접 확인하세요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4023360"/>
            <a:ext cx="3657600" cy="594360"/>
          </a:xfrm>
          <a:prstGeom prst="rect">
            <a:avLst/>
          </a:prstGeom>
          <a:solidFill>
            <a:srgbClr val="6B4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4059936"/>
            <a:ext cx="3657600" cy="5212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Malgun Gothic"/>
              </a:rPr>
              <a:t>데모 신청하기  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웹사이트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clevertap.com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이메일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korea@clevertap.com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594360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6C758D"/>
                </a:solidFill>
                <a:latin typeface="Malgun Gothic"/>
              </a:rPr>
              <a:t>전화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6236208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9B8AFF"/>
                </a:solidFill>
                <a:latin typeface="Malgun Gothic"/>
              </a:rPr>
              <a:t>+82-2-XXXX-XXXX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274320"/>
            <a:ext cx="24688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FFFF"/>
                </a:solidFill>
                <a:latin typeface="Malgun Gothic"/>
              </a:rPr>
              <a:t>CleverTap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