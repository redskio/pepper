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457200"/>
            <a:ext cx="2560320" cy="5029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FINTECH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맑은 고딕"/>
              </a:rPr>
              <a:t>핀테크 비즈니스 분석 실전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AA"/>
                </a:solidFill>
                <a:latin typeface="맑은 고딕"/>
              </a:rPr>
              <a:t>데이터로 읽는 핀테크 — 비즈니스 모델 분석부터 대시보드 구축까지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3657600" cy="36576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B0C4DE"/>
                </a:solidFill>
                <a:latin typeface="맑은 고딕"/>
              </a:rPr>
              <a:t>총 강의 시간: 3시간  |  총 슬라이드: 45장  |  실습 포함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B0C4DE"/>
                </a:solidFill>
                <a:latin typeface="맑은 고딕"/>
              </a:rPr>
              <a:t>2026.04.20  |  강사: 이재우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212080"/>
            <a:ext cx="214884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212080"/>
            <a:ext cx="214884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285232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Part 1
오리엔테이션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5212080"/>
            <a:ext cx="214884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5212080"/>
            <a:ext cx="214884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5285232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Part 2
비즈니스 모델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5212080"/>
            <a:ext cx="214884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5212080"/>
            <a:ext cx="214884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5285232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Part 3
케이스 스터디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5212080"/>
            <a:ext cx="214884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5212080"/>
            <a:ext cx="214884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19" y="5285232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Part 4
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5212080"/>
            <a:ext cx="2148840" cy="11887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5212080"/>
            <a:ext cx="214884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5285232"/>
            <a:ext cx="2148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Part 5
Q&amp;A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A8DA0"/>
                </a:solidFill>
                <a:latin typeface="맑은 고딕"/>
              </a:rPr>
              <a:t>© 2026 Fintech Masterclass  |  HULK × PEPPER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오프닝 &amp; 오리엔테이션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맑은 고딕"/>
              </a:rPr>
              <a:t>왜 지금 핀테크 데이터 분석인가?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AA"/>
                </a:solidFill>
                <a:latin typeface="맑은 고딕"/>
              </a:rPr>
              <a:t>⏱ 15분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오늘의 여정 — 3시간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오늘 우리가 함께 걷는 길: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Part 1 (15분): 오리엔테이션 — 왜 핀테크 데이터 분석인가?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Part 2 (45분): 비즈니스 모델 분석 방법론 심화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Part 3 (60분): 케이스 스터디 — 토스 · 카카오페이 · Stripe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Part 4 (60분): 실습 — Amplitude &amp; Looker Studio 핸즈온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Part 5 (20분): 마무리 &amp; Q&amp;A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오늘의 목표: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"핀테크 데이터를 보는 눈 장착하기"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왜 지금 핀테크 데이터 분석인가?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글로벌 핀테크 시장 폭발적 성장: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2024년 $340B → 2030년 $1.1T (연평균 성장률 22%)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한국 간편결제 연간 거래액: 200조원 돌파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현실: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"핀테크 PM/마케터에게 데이터 리터러시는 선택이 아닌 필수"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질문: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"여러분의 서비스에서 오늘 얼마나 많은 결제가 일어났을까요?"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수강생 여러분은 누구인가요?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현재 직무는?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PM / 마케터 / 기획자 / 전략 / 개발 / 기타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현재 근무 업종은?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핀테크 / 이커머스 / 일반 IT / 금융 / 기타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오늘 가장 얻어가고 싶은 것은?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Slido 또는 구두 질문으로 진행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강의 후 여러분이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00D4AA"/>
                </a:solidFill>
                <a:latin typeface="맑은 고딕"/>
              </a:rPr>
              <a:t>✅ 핀테크 비즈니스 모델 유형별로 분류하고 KPI를 정의할 수 있다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0D4AA"/>
                </a:solidFill>
                <a:latin typeface="맑은 고딕"/>
              </a:rPr>
              <a:t>✅ 비즈니스 모델 캔버스를 핀테크 서비스에 적용할 수 있다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0D4AA"/>
                </a:solidFill>
                <a:latin typeface="맑은 고딕"/>
              </a:rPr>
              <a:t>✅ 토스·카카오페이·Stripe 전략을 데이터 관점에서 해석할 수 있다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0D4AA"/>
                </a:solidFill>
                <a:latin typeface="맑은 고딕"/>
              </a:rPr>
              <a:t>✅ Amplitude로 퍼널·리텐션·코호트 분석을 수행할 수 있다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00D4AA"/>
                </a:solidFill>
                <a:latin typeface="맑은 고딕"/>
              </a:rPr>
              <a:t>✅ Looker Studio로 핵심 지표 대시보드를 만들 수 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비즈니스 모델 분석 방법론 심화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맑은 고딕"/>
              </a:rPr>
              <a:t>데이터를 보기 전에, 비즈니스 구조를 먼저 이해하라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AA"/>
                </a:solidFill>
                <a:latin typeface="맑은 고딕"/>
              </a:rPr>
              <a:t>⏱ 45분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Part 2 — 비즈니스 모델을 해부하는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"데이터를 보기 전에, 비즈니스 구조를 먼저 이해해야 한다"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비즈니스 모델 = 누가 / 무엇을 / 어떻게 / 얼마에 / 왜 구매하는가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핀테크는 전통 금융과 달리 데이터 기반 수익화가 핵심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이번 파트 목표: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핀테크 비즈니스를 구조화해서 분석하는 눈 기르기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"토스는 돈을 어떻게 버나요?" — 한번 생각해보세요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핀테크 비즈니스 모델 5대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64280" cy="66751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5760" y="1188720"/>
            <a:ext cx="3764280" cy="66751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1480" y="12070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대표 서비스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5760" y="1188720"/>
            <a:ext cx="3764280" cy="66751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1480" y="12070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수익 모델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74519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8928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결제/송금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5760" y="1874519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1480" y="18928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토스, 카카오페이, Stripe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85760" y="1874519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1480" y="18928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거래 수수료, MDR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37642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5786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대출/크레딧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2560320"/>
            <a:ext cx="37642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1480" y="25786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토스뱅크, 핀다, 카카오뱅크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2560320"/>
            <a:ext cx="37642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25786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이자 수익, 중개 수수료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46120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2644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투자/자산관리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3246120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32644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토스증권, Robinhood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3246120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3264408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거래 수수료, 구독료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37642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9502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보험 (인슈어테크)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3931920"/>
            <a:ext cx="37642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39502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카카오손보, Lemonade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3931920"/>
            <a:ext cx="37642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39502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보험료 수입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17720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360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B2B 인프라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4617720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46360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Plaid, Marqeta, AWS Pay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4617720"/>
            <a:ext cx="37642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636007"/>
            <a:ext cx="371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API 사용료, 라이선스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수익 모델 심화 — 핀테크는 어떻게 돈을 버나?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**수수료형**: 거래당 % 또는 고정액 과금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예: Stripe — 2.9% + $0.30 per transaction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**이자 마진형**: 예대마진 (대출 이자 - 예금 이자)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예: 토스뱅크, 카카오뱅크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**구독형**: 월정액 프리미엄 서비스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예: Robinhood Gold $5/월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**데이터/광고형**: 금융 행동 데이터 활용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예: 신용평가 데이터 판매, 맞춤형 금융광고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**핵심 질문:** 이 서비스의 주 수익원은 무엇인가? 부 수익원은?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비즈니스 모델 캔버스 (BMC) — 핀테크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BMC 9개 블록: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1. 고객 세그먼트 (Customer Segments)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2. 가치 제안 (Value Propositions)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3. 채널 (Channels)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4. 고객 관계 (Customer Relationships)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5. 수익 흐름 (Revenue Streams)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6. 핵심 자원 (Key Resources)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7. 핵심 활동 (Key Activities)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8. 핵심 파트너십 (Key Partnerships)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9. 비용 구조 (Cost Structure)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**핀테크 특수 요소:** 라이선스/규제, 데이터 자산, 네트워크 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고객 세그먼트와 LTV — 누가 진짜 핵심 고객인가?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모든 고객이 동등하지 않다 — LTV로 핵심 세그먼트 찾기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세그먼트 분류 기준: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인구통계 / 행동 / 거래 패턴 / 금융 프로파일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LTV 계산 공식: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LTV = ARPU × (1 / Churn Rate)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핀테크 세그먼트 예시: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소액 다빈도 사용자 vs. 고액 저빈도 사용자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단일 기능 사용자 vs. 다기능 크로스셀 사용자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**인사이트:** "어떤 세그먼트의 Whale 고객을 획득하고 유지해야 하는가?"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핀테크 핵심 KPI 총정리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764280" cy="540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175760" y="1188720"/>
            <a:ext cx="3764280" cy="540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1480" y="12070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85760" y="1188720"/>
            <a:ext cx="3764280" cy="540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1480" y="12070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핵심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475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658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GMV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5760" y="17475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1480" y="17658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총 거래액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85760" y="17475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1480" y="17658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우리 플랫폼을 통해 얼마나 거래되나?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063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3246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Take Rate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5760" y="23063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21480" y="23246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GMV 대비 수익률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5760" y="23063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1480" y="23246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거래에서 얼마를 가져가나?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8651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8834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CAC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5760" y="28651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480" y="28834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고객 획득 비용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85760" y="28651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1480" y="28834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신규 고객 1명 데려오는데 얼마?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4239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4422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LTV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75760" y="34239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1480" y="34422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고객 생애 가치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85760" y="34239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31480" y="34422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고객 1명이 평생 얼마나 기여하나?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827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0010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LTV/CAC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75760" y="39827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1480" y="40010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수익성 비율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85760" y="39827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1480" y="40010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&gt;3이어야 건강한 사업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415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5598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DAU/MAU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75760" y="45415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1480" y="45598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점착성 (Stickiness)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85760" y="45415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31480" y="45598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&gt;20%이면 좋은 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1003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51186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Churn 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75760" y="51003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21480" y="51186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이탈률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85760" y="5100320"/>
            <a:ext cx="3764280" cy="540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31480" y="51186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얼마나 빠져나가나?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6591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56774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NPS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75760" y="56591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21480" y="56774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추천 지수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85760" y="5659120"/>
            <a:ext cx="3764280" cy="540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1480" y="5677408"/>
            <a:ext cx="3718560" cy="51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만족하고 추천하나?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데이터로 비즈니스 모델을 읽는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맑은 고딕"/>
              </a:rPr>
              <a:t>4가지 진단 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성장 진단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MAU 증가율 + CAC 추이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→ 효율적 성장인가?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수익성 진단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Take Rate × GMV vs. 고정비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→ 단위 경제성 확보 여부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66928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맑은 고딕"/>
              </a:rPr>
              <a:t>핵심 프레임워크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리텐션 진단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Churn Rate + LTV/CAC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→ 장기 지속 가능성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참여도 진단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DAU/MAU + 기능별 사용률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→ 핵심 기능 파악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Growth Accounting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신규 + 복귀 - 이탈 = 순증가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핀테크 경쟁 우위 — 네트워크 효과와 데이터 해자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네트워크 효과: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사용자 증가 → 서비스 가치 증가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예: 카카오페이 — 카카오톡 5천만 사용자 기반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데이터 해자: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거래 데이터 축적 → 신용평가 정교화 → 리스크 감소 선순환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규제 해자: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금융 라이선스 획득 비용 → 진입 장벽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전환 비용: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금융 데이터 이전 번거로움 → Lock-in 효과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**분석 질문:** "이 회사의 해자(Moat)는 무엇인가?"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[중간 점검] 분석 프레임워크 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핀테크 비즈니스 분석 5단계: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1️⃣  비즈니스 모델 유형 분류 (결제/대출/투자/보험/B2B)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2️⃣  수익 구조 매핑 (수수료/이자/구독/데이터)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3️⃣  BMC로 전체 구조 시각화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4️⃣  핵심 KPI 정의 (GMV, Take Rate, CAC, LTV, Churn)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5️⃣  경쟁 우위 분석 (네트워크 효과, 데이터 해자, 규제 해자)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"이 프레임워크를 들고 케이스 스터디로 갑니다"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케이스 스터디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맑은 고딕"/>
              </a:rPr>
              <a:t>토스 · 카카오페이 · Stripe — 실전 분석 워크숍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AA"/>
                </a:solidFill>
                <a:latin typeface="맑은 고딕"/>
              </a:rPr>
              <a:t>⏱ 60분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Part 3 — 케이스 스터디 진행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진행 방식: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강의 설명 (10분) → 팀별 BMC 작성 (5분) → 발표 및 토론 (5분)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**케이스 1:** 토스 (Toss) — 슈퍼앱 전략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**케이스 2:** 카카오페이 — 플랫폼 전환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**케이스 3:** Stripe — B2B API 경제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**준비물:** BMC 양식 핸드아웃, 포스트잇, 마커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팀 구성: 4~5인 1팀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1 — 토스 (Toss)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**설립:** 2014년  |  운영사: 비바리퍼블리카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**시작:** 무료 간편송금 (은행 앱의 복잡함을 해결)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현재: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MAU 2,400만  |  금융상품 30개+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토스뱅크 + 토스증권 + 토스페이먼츠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**핵심 전략:** "금융의 모든 것을 하나의 앱에서"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**수익 구조:** 금융상품 중개 수수료 + 대출 이자 + 결제 수수료 + 광고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1 — 토스 비즈니스 모델 캔버스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맑은 고딕"/>
              </a:rPr>
              <a:t>고객/가치/채널/수익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고객 세그먼트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20~40대 모바일 금융 사용자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중소 사업자 (토스페이)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가치 제안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무료 송금, 원스톱 금융 관리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쉬운 UX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수익 흐름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금융상품 수수료, 대출 이자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가맹점 MDR, 광고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66928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맑은 고딕"/>
              </a:rPr>
              <a:t>자원/활동/채널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핵심 자원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금융 라이선스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2,400만 사용자 데이터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기술 인재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핵심 활동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상품 중개, 신용평가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앱 개발, 규제 대응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채널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앱스토어, 입소문, 카드 혜택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1 — 토스 핵심 지표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MAU 성장 추이: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2018년 500만 → 2023년 2,400만 (5배 성장)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핵심 교차판매 전환율: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송금 사용자 → 금융상품 가입 전환율 %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GMV: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토스페이먼츠 연간 결제처리금액 80조원+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Take Rate 계산 예시: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수수료 수익 / GMV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**인사이트:** "사용자를 잠그고 (Lock-in), 교차판매로 LTV를 극대화"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1 — 토론: 토스의 다음 성장 동력은?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0" i="0">
                <a:solidFill>
                  <a:srgbClr val="FF8C00"/>
                </a:solidFill>
                <a:latin typeface="맑은 고딕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맑은 고딕"/>
              </a:rPr>
              <a:t>토스가 아직 공략하지 못한 고객 세그먼트는?
Take Rate를 높이려면 어떤 전략이 필요한가?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맑은 고딕"/>
              </a:rPr>
              <a:t>— 팀별 2분 논의 → 한 문장 결론 공유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2 — 카카오페이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**설립:** 2017년 분사  |  모기업: 카카오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**시작:** 카카오톡 간편결제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**현재:** 결제 + 보험 + 투자 + 대출 + 인증 서비스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**MAU:** 2,300만+  |  연간 결제 거래액 120조원+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**핵심 강점:** 카카오톡 5,000만 사용자 기반 즉시 침투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**수익 구조:** 결제 수수료 + 보험료 + 금융상품 수수료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2 — 결제에서 플랫폼으로의 전환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전환 단계: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1. 결제 MAU 확보 (무료/편의성)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2. 결제 데이터 → 금융 프로파일링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3. 신용/보험 상품 크로스셀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4. 투자 서비스 추가 → 자산 관리 플랫폼화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데이터 관점: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결제 빈도/금액대 → 보험 추천 정확도 → 전환율 향상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핵심 지표 변화: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결제 MAU → 다기능 사용자 비율 (Multi-product Ratio)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**왜 결제부터 시작했을까?** "가장 빈번한 접점이 가장 많은 데이터를 생성"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2 — GMV vs. Take Rate 딜레마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**결제 GMV:** 빠르게 성장 (120조원+)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**결제 Take Rate:** 규제로 인해 압박 (카드 MDR 인하 정책)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**해결책:** 고마진 부문으로 믹스 전환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보험 Take Rate &gt; 결제 Take Rate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분석 포인트: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"성장하는 GMV에서 어떻게 마진을 지키는가?"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이 딜레마는 모든 결제 플랫폼의 공통 과제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3 — Stripe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**설립:** 2010년  |  창업자: Patrick &amp; John Collison (아일랜드)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**핵심 가치 제안:** "7줄의 코드로 결제 구현"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**현재:** 기업 가치 $65B+  |  135개국 서비스  |  100만+ 비즈니스 고객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**수익 모델:** 거래당 2.9% + $0.30 (카드) + 볼륨 디스카운트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**주요 고객:** Shopify, Lyft, DoorDash, Amazon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**확장:** Stripe Atlas, Stripe Radar, Stripe Treasury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3 — API 경제와 개발자 GTM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Bottom-up Sales: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개발자가 먼저 도입 → 회사 전체로 확산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Developer Experience First: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문서화, SDK, Sandbox 환경 최우선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Network Effect: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더 많은 가맹점 → Stripe Connect 생태계 강화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데이터 자산화: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수백만 거래 데이터 → Radar AI 사기 탐지 정확도 향상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LTV 모델: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기업이 성장할수록 GMV 증가 → Stripe 수익 비례 증가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3 — 데이터로 만든 경쟁 우위: Stripe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**문제:** 온라인 결제 사기(Fraud) → 가맹점 손실, 고객 불만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**솔루션:** 수억 건의 거래 데이터로 ML 모델 학습 → Radar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결과: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99.9%+ 결제 성공률  |  사기 탐지 정확도 업계 최고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**비즈니스 효과:** Radar 과금 → 추가 수익 창출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핵심 인사이트: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"데이터 자산 → AI 제품 → 추가 수익 → 데이터 확장" 선순환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"여러분 회사의 데이터 자산으로 만들 수 있는 제품은?"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케이스 스터디 비교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811780" cy="667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3260" y="1188720"/>
            <a:ext cx="2811780" cy="667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8979" y="12070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토스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188720"/>
            <a:ext cx="2811780" cy="667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070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카카오페이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38260" y="1188720"/>
            <a:ext cx="2811780" cy="66751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83980" y="12070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Stripe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74519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928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고객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3260" y="1874519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8979" y="18928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B2C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874519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8928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B2C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8260" y="1874519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83980" y="18928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B2B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603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5786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진입 전략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23260" y="25603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8979" y="25786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무료 기능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5603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5786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생태계 기반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38260" y="25603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3980" y="25786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개발자 경험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461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2644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수익화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23260" y="32461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8979" y="32644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크로스셀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2461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2644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믹스 전환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38260" y="32461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3980" y="326440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거래 과금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9319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39502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데이터 활용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3260" y="39319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68979" y="39502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신용평가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9319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39502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금융 프로파일링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38260" y="3931920"/>
            <a:ext cx="2811780" cy="667512"/>
          </a:xfrm>
          <a:prstGeom prst="rect">
            <a:avLst/>
          </a:prstGeom>
          <a:solidFill>
            <a:srgbClr val="15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83980" y="39502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사기 탐지 AI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6177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6360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AA"/>
                </a:solidFill>
                <a:latin typeface="맑은 고딕"/>
              </a:rPr>
              <a:t>핵심 해자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23260" y="46177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68979" y="46360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사용자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6177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26480" y="46360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카카오 생태계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38260" y="4617720"/>
            <a:ext cx="2811780" cy="6675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83980" y="4636007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  <a:latin typeface="맑은 고딕"/>
              </a:rPr>
              <a:t>개발자 네트워크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내 서비스에 적용하기 — 분석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B0C4DE"/>
                </a:solidFill>
                <a:latin typeface="맑은 고딕"/>
              </a:rPr>
              <a:t>□ 우리 서비스의 비즈니스 모델 유형은?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B0C4DE"/>
                </a:solidFill>
                <a:latin typeface="맑은 고딕"/>
              </a:rPr>
              <a:t>□ 주요 수익원 Top 3는?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B0C4DE"/>
                </a:solidFill>
                <a:latin typeface="맑은 고딕"/>
              </a:rPr>
              <a:t>□ 핵심 고객 세그먼트는? 각각의 LTV는?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B0C4DE"/>
                </a:solidFill>
                <a:latin typeface="맑은 고딕"/>
              </a:rPr>
              <a:t>□ 지금 추적하고 있는 KPI는? 빠진 KPI는?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B0C4DE"/>
                </a:solidFill>
                <a:latin typeface="맑은 고딕"/>
              </a:rPr>
              <a:t>□ 우리의 경쟁 우위(해자)는 무엇인가?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B0C4DE"/>
                </a:solidFill>
                <a:latin typeface="맑은 고딕"/>
              </a:rPr>
              <a:t>□ 데이터 자산을 어떻게 활용하고 있는가?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2분 개인 메모 시간  |  강의 후 액션 아이템으로!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실습 — Amplitude &amp; Looker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맑은 고딕"/>
              </a:rPr>
              <a:t>FinFlow 가상 핀테크 앱 데이터로 직접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AA"/>
                </a:solidFill>
                <a:latin typeface="맑은 고딕"/>
              </a:rPr>
              <a:t>⏱ 60분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Part 4 — 실습 안내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**가상 서비스:** FinFlow — 간편결제 핀테크 앱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데이터셋: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사용자 이벤트 10,000건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트랜잭션 5,000건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미션: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1️⃣  결제 퍼널에서 가장 큰 이탈 구간 찾기 (Amplitude)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2️⃣  30일 리텐션 패턴 분석 (Amplitude)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3️⃣  GMV &amp; 결제 성공률 대시보드 구성 (Looker Studio)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팀별 협력 실습  |  15분마다 인사이트 공유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FinFlow 앱 소개 — 가상 데이터 컨텍스트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**FinFlow:** 20~35세 타겟 간편결제 + 가계부 기능 앱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주요 기능: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간편결제 / 소비 분석 / 예산 설정 / 친구에게 송금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현재 상황: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MAU 5만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결제 전환율 저조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30일 리텐션 하락 중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**데이터 기간:** 최근 90일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**분석 목표:** "어디서 왜 이탈하는가? 어떻게 개선할 것인가?"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"실제 스타트업 입사 첫 주에 이 데이터를 받았다고 상상하세요"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데이터셋 구조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맑은 고딕"/>
              </a:rPr>
              <a:t>user_events.csv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user_id: 사용자 고유 ID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event_type: 앱 실행/회원가입/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계좌연결/첫결제/재결제/이탈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timestamp: 이벤트 발생 시각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amount: 결제 금액 (원)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category: 식비/교통/쇼핑/구독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device_type: iOS / Android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session_id: 세션 고유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66928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맑은 고딕"/>
              </a:rPr>
              <a:t>transactions.csv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transaction_id: 거래 고유 ID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user_id: 사용자 ID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merchant_id: 가맹점 ID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amount: 거래 금액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status: 성공/실패/취소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payment_method: 결제 수단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timestamp: 거래 시각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Amplitude 실습 1 — 퍼널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**분석 목표:** 앱 설치 → 첫 결제까지의 전환율 최적화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퍼널 단계: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1️⃣  앱 실행 (App Open)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2️⃣  회원가입 완료 (Sign Up)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3️⃣  계좌 연결 (Account Link)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4️⃣  첫 결제 시도 (First Payment Attempt)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5️⃣  첫 결제 성공 (First Payment Success)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**실습 질문:** 가장 큰 이탈이 일어나는 단계는? 왜 그럴까?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**Amplitude 설정:** Funnel Chart → 5단계 이벤트 순서 정의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Amplitude 실습 2 — 리텐션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**분석 목표:** 가입 후 사용자가 얼마나 돌아오는가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**리텐션 정의:** 가입 후 N일 내 재방문 사용자 비율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Amplitude 설정: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Retention Chart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Starting Event: Sign Up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Return Event: App Open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코호트 비교: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iOS vs. Android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첫 결제 금액대별 리텐션 차이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**인사이트 질문:** 어떤 세그먼트의 리텐션이 가장 높은가? 왜?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Amplitude 실습 3 — 코호트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33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**분석 목표:** 첫 거래 패턴으로 미래 LTV 예측하기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코호트 정의: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Group A: 첫 결제 1만원 미만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Group B: 첫 결제 1~5만원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Group C: 첫 결제 5만원 이상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비교 지표: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재결제율, 평균 결제 횟수, 30일 GMV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**가설:** "첫 결제 금액이 높을수록 LTV가 높다"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**Amplitude 설정:** Behavioral Cohorts → Funnel/Retention 결합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Looker Studio 실습 — 핀테크 대시보드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34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**데이터 소스:** Google Sheets (transactions.csv 업로드)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대시보드 구성 요소: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1️⃣  GMV 일별 추이 (Line Chart)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2️⃣  결제 성공률 / 실패율 (Donut Chart)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3️⃣  결제 수단별 비중 (Bar Chart)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4️⃣  가맹점 카테고리별 GMV (Bar Chart)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5️⃣  기간 필터 + 결제수단 필터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**목표:** "5분 안에 핵심 상황 파악 가능한 대시보드"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실습 결과 공유 — 인사이트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팀별 발표 (1팀 2분):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발견한 핵심 이탈 구간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리텐션이 낮은 세그먼트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대시보드에서 발견한 이상 패턴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**토론:** "만약 이 데이터가 실제 서비스라면 다음 액션은?"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강사 피드백: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분석 접근법 및 인사이트 품질 평가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다양한 팀의 관점 비교 자체가 학습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정답이 아닌 사고 과정에 집중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마무리 &amp;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맑은 고딕"/>
              </a:rPr>
              <a:t>오늘 배운 프레임워크로 내 서비스를 다시 보자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182880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D4AA"/>
                </a:solidFill>
                <a:latin typeface="맑은 고딕"/>
              </a:rPr>
              <a:t>⏱ 20분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Part 5 — 오늘 배운 것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36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**Part 1:** 핀테크 데이터 분석의 필요성과 오늘의 목표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**Part 2:** 비즈니스 모델 5대 유형 + BMC + 10대 KPI + 경쟁 우위 분석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**Part 3:** 토스(슈퍼앱) · 카카오페이(플랫폼 전환) · Stripe(API 경제) 케이스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**Part 4:** Amplitude 퍼널/리텐션/코호트 + Looker Studio 대시보드 실습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핵심 메시지: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"비즈니스 구조를 이해하고, KPI를 정의하고, 데이터로 검증하라"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실무 적용 팁 — 내일 당장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37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오늘 (Tonight):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내 서비스 BMC 빈칸 채워보기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이번 주 (This Week):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Amplitude / Looker Studio 무료 계정 세팅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서비스의 KPI 5개 정의하고 현재 수치 파악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이번 달 (This Month):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퍼널 분석 1개 완료 → 이탈 구간 가설 제시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리텐션 분석 → 고LTV 세그먼트 정의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→ "막연한 다짐"이 아닌 "실행 계획"으로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추천 학습 리소스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38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AA"/>
                </a:solidFill>
                <a:latin typeface="맑은 고딕"/>
              </a:rPr>
              <a:t>📚 책 &amp; 뉴스레터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Fintech in Korea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Lean Analytics (스타트업 지표 바이블)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Hacking Growth (그로스 해킹 실전)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뉴스레터/블로그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핀다 블로그 (핀테크 분석)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a16z Fintech Newsletter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Andreessen Horowitz Fintech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43000"/>
            <a:ext cx="5669280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669280" cy="73152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BFF"/>
                </a:solidFill>
                <a:latin typeface="맑은 고딕"/>
              </a:rPr>
              <a:t>🛠️ 도구 &amp; 데이터셋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도구 공식 학습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Amplitude Academy (무료 온라인)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Looker Studio 공식 튜토리얼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데이터셋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Kaggle Fintech Datasets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  FinFlow 실습 데이터 (강의자료)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  <a:latin typeface="맑은 고딕"/>
              </a:rPr>
              <a:t>→ QR코드로 링크 제공 예정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**Q&amp;A 시간:** 15분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**질문 방식:** 구두 또는 Slido 익명 질문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자주 묻는 질문 (FAQ):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Q. Amplitude vs. Mixpanel, 어떤 걸 써야 하나요?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A. 스타트업은 Amplitude, 엔터프라이즈는 Mixpanel — 무료 플랜 먼저 시작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Q. Take Rate는 어떻게 벤치마킹하나요?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A. 동종 상장사 IR 자료 + CB Insights 리포트 활용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Q. 소규모 팀에서도 이런 분석이 가능한가요?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A. 가능합니다 — Amplitude 무료 플랜 + Looker Studio (무료)로 시작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마무리 — 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0" i="0">
                <a:solidFill>
                  <a:srgbClr val="FF8C00"/>
                </a:solidFill>
                <a:latin typeface="맑은 고딕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맑은 고딕"/>
              </a:rPr>
              <a:t>오늘 배운 프레임워크로
여러분 서비스의 데이터를 다시 보세요.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C4DE"/>
                </a:solidFill>
                <a:latin typeface="맑은 고딕"/>
              </a:rPr>
              <a:t>— 데이터로 더 나은 결정을 — Good luck!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743200" cy="64008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부록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심화 자료 &amp; 참고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AA"/>
                </a:solidFill>
                <a:latin typeface="맑은 고딕"/>
              </a:rPr>
              <a:t>규제 환경, 사기 탐지, Unit Economics, 데이터 파이프라인, 커리어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[부록] 핀테크 규제 환경과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41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주요 규제: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전자금융거래법, 개인정보보호법, 금융소비자보호법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**마이데이터:** 금융 데이터 통합 → 분석 기회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**오픈뱅킹:** API 기반 계좌 접근 → 서비스 확장 기반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분석 시 주의: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개인정보 익명화 / 동의 기반 데이터 활용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**인사이트:** "규제는 제약이자 새로운 시장의 출발점"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[부록] 사기 탐지 (Fraud Detection)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8C00"/>
                </a:solidFill>
                <a:latin typeface="맑은 고딕"/>
              </a:rP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핀테크 사기 유형: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계정 탈취 / 신용카드 사기 / 보이스피싱 / 자금세탁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이상 탐지 지표: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비정상적 거래 시간대, 위치 불일치, 금액 패턴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Amplitude 활용: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비정상 행동 코호트 정의 → 세그먼트 분리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머신러닝 적용: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이진 분류 모델 (정상/사기) — Stripe Radar 사례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**실무 팁:** Rule-based → ML-based 단계적 고도화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[부록] Unit Economics 심화 — LTV/CAC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43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LTV 고급 모델: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LTV = (ARPU × Gross Margin) / Churn Rate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CAC 분해: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(마케팅비 + 영업비) / 신규 유료 고객 수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LTV/CAC 벤치마크: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&lt; 1: 위험 (돈 잃으며 성장)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1 ~ 3: 주의 (개선 필요)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&gt; 3: 건강 (지속 투자 가능)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Payback Period: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CAC / (ARPU × Gross Margin) → 몇 달이면 회수?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[부록] 핀테크 데이터 파이프라인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8BFF"/>
                </a:solidFill>
                <a:latin typeface="맑은 고딕"/>
              </a:rP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데이터 소스: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앱 이벤트 / 결제 시스템 / 고객 DB / 외부 신용 데이터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**수집:** Amplitude SDK, 서버 이벤트 → Event Tracking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**저장:** Data Warehouse (BigQuery, Snowflake, Redshift)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분석: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Amplitude (행동 분석)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Looker Studio (BI 대시보드)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SQL (커스텀 쿼리)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**활용:** 마케팅 세그먼트, 제품 개선, 리스크 관리, 경영 보고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**인사이트:** "데이터 파이프라인이 없으면 분석도 없다"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4572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[부록] 핀테크 분석가 커리어 패스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D4AA"/>
                </a:solidFill>
                <a:latin typeface="맑은 고딕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53035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3152" cy="53035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관련 직무: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그로스 분석가 (Growth Analyst)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프로덕트 분석가 (Product Analyst)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비즈니스 인텔리전스 (BI Analyst)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데이터 사이언티스트 (핀테크 특화)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• 전략 기획 (핀테크 도메인)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**필요 역량:** SQL, Python(pandas), BI 도구, 금융 도메인 이해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/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00D4AA"/>
                </a:solidFill>
                <a:latin typeface="맑은 고딕"/>
              </a:rPr>
              <a:t>취업 팁: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오픈 데이터로 포트폴리오 프로젝트 만들기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맑은 고딕"/>
              </a:rPr>
              <a:t>  추천 플랫폼: Kaggle, Dacon, 공공데이터포털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A8DA0"/>
                </a:solidFill>
                <a:latin typeface="맑은 고딕"/>
              </a:rPr>
              <a:t>핀테크 비즈니스 분석 실전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