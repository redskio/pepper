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66CC"/>
              </a:gs>
              <a:gs pos="100000">
                <a:srgbClr val="1D4ED8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1_te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0" y="0"/>
            <a:ext cx="53532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40000" y="0"/>
            <a:ext cx="5353200" cy="6858000"/>
          </a:xfrm>
          <a:prstGeom prst="rect">
            <a:avLst/>
          </a:prstGeom>
          <a:solidFill>
            <a:srgbClr val="0066C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900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위어드섹터 × MBC 모다이브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620000"/>
            <a:ext cx="57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algun Gothic"/>
              </a:rPr>
              <a:t>데이터·코드·마테크·CRM</a:t>
            </a:r>
          </a:p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서비스 제안서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3168000"/>
            <a:ext cx="5400000" cy="18000"/>
          </a:xfrm>
          <a:prstGeom prst="rect">
            <a:avLst/>
          </a:prstGeom>
          <a:solidFill>
            <a:srgbClr val="90C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3311999"/>
            <a:ext cx="57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CAFF"/>
                </a:solidFill>
                <a:latin typeface="Malgun Gothic"/>
              </a:rPr>
              <a:t>팬 데이터를 수익으로 — 모잇의 성장을 데이터로 가속합니다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6192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algun Gothic"/>
              </a:rPr>
              <a:t>위어드섹터  |  info@weirdsector.co.kr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0" y="6192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algun Gothic"/>
              </a:rPr>
              <a:t>2026년 4월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Executive Summary — 한 눈에 보는 제안 핵심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720000"/>
            <a:ext cx="11340000" cy="172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827999"/>
            <a:ext cx="251999" cy="251999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827999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Malgun Gothic"/>
              </a:rPr>
              <a:t>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2000" y="827999"/>
            <a:ext cx="9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모잇은 급성장 중이지만, 팬 행동 데이터를 체계적으로 수집·분석·활용하는 인프라가 부족합니다.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331998"/>
            <a:ext cx="251999" cy="251999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1331998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Malgun Gothic"/>
              </a:rPr>
              <a:t>솔루션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2000" y="1331998"/>
            <a:ext cx="9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위어드섹터가 데이터 수집 → 코드 관리 → 마테크 자동화 → CRM까지 M/M 방식으로 순차 구축합니다.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1835997"/>
            <a:ext cx="251999" cy="251999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1835997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Malgun Gothic"/>
              </a:rPr>
              <a:t>기대효과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2000" y="1835997"/>
            <a:ext cx="9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팬 이탈 30% 감소, 굿즈 전환율 2배, 운영팀 리포팅 시간 80% 절감 (업계 평균 기준 추정)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592000"/>
            <a:ext cx="2880000" cy="28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서비스 영역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2000" y="2592000"/>
            <a:ext cx="8100000" cy="28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핵심 내용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2880000"/>
            <a:ext cx="2880000" cy="360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0066CC"/>
                </a:solidFill>
                <a:latin typeface="Malgun Gothic"/>
              </a:rPr>
              <a:t>📊  데이터 관리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2000" y="2880000"/>
            <a:ext cx="8100000" cy="360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사용자 행동 수집 · 정제 · 대시보드 구축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3276000"/>
            <a:ext cx="2880000" cy="3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0066CC"/>
                </a:solidFill>
                <a:latin typeface="Malgun Gothic"/>
              </a:rPr>
              <a:t>🏷️  코드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2000" y="3276000"/>
            <a:ext cx="8100000" cy="3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트래킹 코드 · 태그 매니저 · 측정 인프라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3672000"/>
            <a:ext cx="2880000" cy="360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0066CC"/>
                </a:solidFill>
                <a:latin typeface="Malgun Gothic"/>
              </a:rPr>
              <a:t>🤖  마테크 (MarTech)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2000" y="3672000"/>
            <a:ext cx="8100000" cy="360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마케팅 자동화 · 개인화 캠페인 도구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4068000"/>
            <a:ext cx="2880000" cy="3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0066CC"/>
                </a:solidFill>
                <a:latin typeface="Malgun Gothic"/>
              </a:rPr>
              <a:t>👥  CRM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2000" y="4068000"/>
            <a:ext cx="8100000" cy="3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팬 세그먼테이션 · 리텐션 · 생애주기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300000"/>
            <a:ext cx="12193200" cy="43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운영 방식: 月 200만원 / M/M 기반 · 매월 우선순위 선정 · 실행 · 리뷰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MBC 모다이브의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684000"/>
            <a:ext cx="4320000" cy="198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0066CC"/>
                </a:solidFill>
                <a:latin typeface="Malgun Gothic"/>
              </a:rPr>
              <a:t>모잇 플랫폼 현황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• AI 캐릭터 채팅 · 굿즈 커머스 · 팬 커뮤니티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• MBC 드라마 IP 30개+ 캐릭터 운영 중</a:t>
            </a:r>
          </a:p>
          <a:p>
            <a:pPr algn="l"/>
            <a:r>
              <a:rPr sz="1100" b="0" i="0">
                <a:solidFill>
                  <a:srgbClr val="64748B"/>
                </a:solidFill>
                <a:latin typeface="Malgun Gothic"/>
              </a:rPr>
              <a:t>  (커피프린스, 내이름은 김삼순 등)</a:t>
            </a:r>
          </a:p>
          <a:p>
            <a:pPr algn="l"/>
            <a:r>
              <a:rPr sz="1200" b="1" i="0">
                <a:solidFill>
                  <a:srgbClr val="0066CC"/>
                </a:solidFill>
                <a:latin typeface="Malgun Gothic"/>
              </a:rPr>
              <a:t>• 2024년 10월 정식 출시 → 2026년 글로벌 예정</a:t>
            </a:r>
          </a:p>
        </p:txBody>
      </p:sp>
      <p:pic>
        <p:nvPicPr>
          <p:cNvPr id="4" name="Picture 3" descr="slide3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0" y="684000"/>
            <a:ext cx="6732000" cy="198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32000" y="2880000"/>
            <a:ext cx="3671999" cy="3528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2988000"/>
            <a:ext cx="720000" cy="25199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과제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312000"/>
            <a:ext cx="345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6CC"/>
                </a:solidFill>
                <a:latin typeface="Malgun Gothic"/>
              </a:rPr>
              <a:t>팬 데이터가 파편화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672000"/>
            <a:ext cx="3455999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• 채팅·굿즈·커뮤니티 데이터가 통합 분석 없이 분리
• '가장 가치있는 팬'을 알 수 없음
• 신규 IP 추가 기준이 데이터 없이 감(感)으로 결정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0" y="2880000"/>
            <a:ext cx="3671999" cy="3528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8000" y="2988000"/>
            <a:ext cx="720000" cy="25199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과제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8000" y="3312000"/>
            <a:ext cx="345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6CC"/>
                </a:solidFill>
                <a:latin typeface="Malgun Gothic"/>
              </a:rPr>
              <a:t>마케팅 개인화 부재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8000" y="3672000"/>
            <a:ext cx="3455999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• 헤비유저와 이탈 위험 유저에게 동일한 푸시 발송
• 굿즈 구매 고관여 팬 vs 채팅 팬 구분 없음
• 개인화 캠페인 부재 → 광고 효율 낮음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8000" y="2880000"/>
            <a:ext cx="3671999" cy="3528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16000" y="2988000"/>
            <a:ext cx="720000" cy="25199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과제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6000" y="3312000"/>
            <a:ext cx="345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6CC"/>
                </a:solidFill>
                <a:latin typeface="Malgun Gothic"/>
              </a:rPr>
              <a:t>리포팅이 수작업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6000" y="3672000"/>
            <a:ext cx="3455999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• KPI 대시보드 없거나 엑셀 기반 운영
• 경영진 보고 자료에 매주 5~10시간 소요
• 글로벌 확장 시 더 복잡해질 전망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위어드섹터 소개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720000"/>
            <a:ext cx="1620000" cy="39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설립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2000" y="720000"/>
            <a:ext cx="2700000" cy="396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2020년 (벤처기업 인증)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133999"/>
            <a:ext cx="1620000" cy="39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대표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2000" y="1133999"/>
            <a:ext cx="2700000" cy="396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최재우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47998"/>
            <a:ext cx="1620000" cy="39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핵심 역량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2000" y="1547998"/>
            <a:ext cx="2700000" cy="396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데이터 분석 · 마테크 · 생성형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961997"/>
            <a:ext cx="1620000" cy="39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고객사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2000" y="1961997"/>
            <a:ext cx="2700000" cy="396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1,500개+ 기업고객 운영 경험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375996"/>
            <a:ext cx="1620000" cy="39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주요 고객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2000" y="2375996"/>
            <a:ext cx="2700000" cy="396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LG U+, 카카오페이, 무신사, NHN 한게임</a:t>
            </a:r>
          </a:p>
        </p:txBody>
      </p:sp>
      <p:pic>
        <p:nvPicPr>
          <p:cNvPr id="13" name="Picture 12" descr="slide4_t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2808000"/>
            <a:ext cx="4320000" cy="1980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220000" y="684000"/>
            <a:ext cx="90000" cy="1512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10000" y="684000"/>
            <a:ext cx="6443999" cy="1512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0" y="792000"/>
            <a:ext cx="306000" cy="30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6000" y="792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66CC"/>
                </a:solidFill>
                <a:latin typeface="Malgun Gothic"/>
              </a:rPr>
              <a:t>데이터 인프라 구축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6000" y="1152000"/>
            <a:ext cx="6228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GA4 · Amplitude · Firebase · BigQuery 전 스택 운영
퍼널 · 리텐션 · LTV · 세그먼트 분석 실무 경험
Data Nugget SaaS로 실시간 대시보드 운영 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20000" y="2304000"/>
            <a:ext cx="90000" cy="1512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10000" y="2304000"/>
            <a:ext cx="6443999" cy="1512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00000" y="2412000"/>
            <a:ext cx="306000" cy="30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6000" y="2412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66CC"/>
                </a:solidFill>
                <a:latin typeface="Malgun Gothic"/>
              </a:rPr>
              <a:t>AI 기반 자동화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6000" y="2772000"/>
            <a:ext cx="6228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생성형 AI로 리포트 자동 생성 → 운영 비용 절감
사용자 행동 패턴 예측 모델 구축 경험
추천 알고리즘 · 개인화 마케팅 인프라 설계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20000" y="3924000"/>
            <a:ext cx="90000" cy="1512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10000" y="3924000"/>
            <a:ext cx="6443999" cy="1512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00000" y="4032000"/>
            <a:ext cx="306000" cy="30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96000" y="4032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66CC"/>
                </a:solidFill>
                <a:latin typeface="Malgun Gothic"/>
              </a:rPr>
              <a:t>운영 파트너십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36000" y="4392000"/>
            <a:ext cx="6228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단순 분석 대행이 아닌 도구화·자동화·제품화 접근
고객사 내부 데이터 역량 강화 교육 병행
M/M 방식으로 우선순위 중심 실행, 매월 결과 공유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제안 서비스 ① — 데이터 관리 &amp; 코드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720000"/>
            <a:ext cx="5580000" cy="36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📊  데이터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115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Malgun Gothic"/>
              </a:rPr>
              <a:t>수집 인프라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403999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모잇 앱/웹 사용자 이벤트 택소노미(Event Taxonomy)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999" y="1612799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Firebase / Amplitude 이벤트 수집 체계 표준화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999" y="1821599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BigQuery 연동 데이터 레이크 파이프라인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999" y="2102399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Malgun Gothic"/>
              </a:rPr>
              <a:t>분석 체계 수립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999" y="2354398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핵심 KPI 정의: DAU · MAU · 채팅 횟수 · 굿즈 전환율 · ARPU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999" y="2563198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팬 세그먼트 분류 (VIP / 일반 / 잠재 이탈)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999" y="2771998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주간·월간 자동화 리포트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999" y="3052798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Malgun Gothic"/>
              </a:rPr>
              <a:t>대시보드 구축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999" y="3304797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경영진용: 매출·사용자·캐릭터별 성과 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999" y="3513597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마케팅팀용: 캠페인 효과, 팬 유입 경로, 전환 퍼널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999" y="3722397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개발팀용: 기능별 사용률, 오류 발생 패턴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0000" y="720000"/>
            <a:ext cx="28800" cy="532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48000" y="720000"/>
            <a:ext cx="5688000" cy="360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🏷️  코드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0000" y="1152000"/>
            <a:ext cx="55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6CC"/>
                </a:solidFill>
                <a:latin typeface="Malgun Gothic"/>
              </a:rPr>
              <a:t>태그 매니저(GTM) 구축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0000" y="1403999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Google Tag Manager 세팅 및 최적화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0000" y="1612799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이벤트 트래킹 코드 구조화 및 문서화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0000" y="1821599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마케팅 픽셀 통합 관리 (메타, 구글, 카카오)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0000" y="2102399"/>
            <a:ext cx="55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6CC"/>
                </a:solidFill>
                <a:latin typeface="Malgun Gothic"/>
              </a:rPr>
              <a:t>측정 인프라 유지보수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0000" y="2354398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신규 기능 배포 시 트래킹 코드 검수 프로세스 수립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000" y="2563198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데이터 품질 모니터링: 누락 이벤트, 중복 수집 감지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0000" y="2771998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SDK 버전 관리 및 업데이트 대응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192000"/>
            <a:ext cx="12193200" cy="54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예상 산출물: 이벤트 택소노미 문서 + 실시간 대시보드 3종 (경영진/마케팅/개발) + 태그 구조도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제안 서비스 ② — 마테크 &amp; CRM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720000"/>
            <a:ext cx="5580000" cy="36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🤖  마테크 (MarTech)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115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Malgun Gothic"/>
              </a:rPr>
              <a:t>마케팅 자동화 도구 도입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403999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CRM 연동: 팬 행동 트리거 기반 자동 메시지 발송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999" y="1612799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  예: "신규 IP 추가 시 관련 팬에게 자동 알림"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999" y="1821599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  예: "3일 미접속 팬에게 재방문 유도 푸시"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999" y="2030399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A/B 테스트 인프라: 신기능 효과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999" y="2239199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광고 캠페인 자동 최적화: 전환율 기반 예산 배분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999" y="2519999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Malgun Gothic"/>
              </a:rPr>
              <a:t>개인화 마케팅 구현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999" y="2771998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팬 프로파일 기반 맞춤 콘텐츠 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999" y="2980798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굿즈 구매 이력 → 관심 IP 기반 크로스셀링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999" y="3189598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팬 생일/가입 기념일 자동화 메시지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0000" y="720000"/>
            <a:ext cx="28800" cy="532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48000" y="720000"/>
            <a:ext cx="5688000" cy="360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👥  CRM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0" y="1152000"/>
            <a:ext cx="55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6CC"/>
                </a:solidFill>
                <a:latin typeface="Malgun Gothic"/>
              </a:rPr>
              <a:t>팬 세그먼테이션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0000" y="1403999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RFM 분석: 최근성(R) · 빈도(F) · 구매금액(M)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0000" y="1612799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VIP 팬 식별: 상위 10% 팬 특성 분석 및 우대 프로그램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0000" y="1821599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이탈 위험 탐지: 미접속 기간 · 채팅 빈도 감소 패턴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0000" y="2102399"/>
            <a:ext cx="55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6CC"/>
                </a:solidFill>
                <a:latin typeface="Malgun Gothic"/>
              </a:rPr>
              <a:t>리텐션 캠페인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0000" y="2354398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이탈 위험 팬 자동 감지 → 맞춤 리텐션 오퍼 발송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0000" y="2563198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복귀 팬 온보딩 시퀀스 자동화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0000" y="2771998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계절별·이벤트별 팬 리인게이지먼트 캠페인 운영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000" y="3052798"/>
            <a:ext cx="55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6CC"/>
                </a:solidFill>
                <a:latin typeface="Malgun Gothic"/>
              </a:rPr>
              <a:t>LTV 극대화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0000" y="3304797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팬 생애주기(Fan Lifecycle) 단계별 전략 수립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0000" y="3513597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무료 → 유료 전환 최적 타이밍 분석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0000" y="3722397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굿즈 구매 예측 모델 구축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5652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Malgun Gothic"/>
              </a:rPr>
              <a:t>핵심 활용 예시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0000" y="5832000"/>
            <a:ext cx="5400000" cy="5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1D4ED8"/>
                </a:solidFill>
                <a:latin typeface="Malgun Gothic"/>
              </a:rPr>
              <a:t>재방문 유도: 3일 미접속 팬 → 자동 맞춤 푸시 발송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0000" y="5832000"/>
            <a:ext cx="5688000" cy="540000"/>
          </a:xfrm>
          <a:prstGeom prst="rect">
            <a:avLst/>
          </a:prstGeom>
          <a:solidFill>
            <a:srgbClr val="E3F2FD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066CC"/>
                </a:solidFill>
                <a:latin typeface="Malgun Gothic"/>
              </a:rPr>
              <a:t>VIP 팬 굿즈 추천: 구매 이력 기반 크로스셀링 자동화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M/M 운영 방식 — 月 200만원으로 어떻게 운영되나요?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900000"/>
            <a:ext cx="1080000" cy="900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①
우선순위
협의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2000" y="1260000"/>
            <a:ext cx="1007999" cy="3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99999" y="1116000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7706"/>
                </a:solidFill>
                <a:latin typeface="Malgun Gothic"/>
              </a:rPr>
              <a:t>▶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0000" y="900000"/>
            <a:ext cx="1080000" cy="900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②
실행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260000"/>
            <a:ext cx="1007999" cy="3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9999" y="1116000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7706"/>
                </a:solidFill>
                <a:latin typeface="Malgun Gothic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0" y="900000"/>
            <a:ext cx="1080000" cy="900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③
중간
체크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72000" y="1260000"/>
            <a:ext cx="1007999" cy="3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9999" y="1116000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7706"/>
                </a:solidFill>
                <a:latin typeface="Malgun Gothic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0000" y="900000"/>
            <a:ext cx="1080000" cy="900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④
월말
리뷰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1944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algun Gothic"/>
              </a:rPr>
              <a:t>매월 반복 사이클 | Boss(모다이브)와 우선순위 협의 → 3주 실행 → 중간 체크 → 월말 리뷰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2232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algun Gothic"/>
              </a:rPr>
              <a:t>초기 4개월 우선순위 로드맵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2556000"/>
            <a:ext cx="900000" cy="28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32000" y="2556000"/>
            <a:ext cx="4320000" cy="28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우선순위 과제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52000" y="2556000"/>
            <a:ext cx="5940000" cy="28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예상 산출물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2844000"/>
            <a:ext cx="900000" cy="360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Malgun Gothic"/>
              </a:rPr>
              <a:t>1월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32000" y="2844000"/>
            <a:ext cx="4320000" cy="360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이벤트 택소노미 설계 + GTM 세팅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52000" y="2844000"/>
            <a:ext cx="5940000" cy="360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측정 체계 문서 + 태그 구조도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3204000"/>
            <a:ext cx="900000" cy="3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Malgun Gothic"/>
              </a:rPr>
              <a:t>2월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32000" y="3204000"/>
            <a:ext cx="4320000" cy="3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KPI 대시보드 구축 (Looker Studio)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52000" y="3204000"/>
            <a:ext cx="5940000" cy="3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실시간 대시보드 3종 (경영진/마케팅/개발)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3564000"/>
            <a:ext cx="900000" cy="360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Malgun Gothic"/>
              </a:rPr>
              <a:t>3월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2000" y="3564000"/>
            <a:ext cx="4320000" cy="360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팬 세그먼테이션 + RFM 분석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52000" y="3564000"/>
            <a:ext cx="5940000" cy="360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팬 등급 체계 + 세그먼트 프로파일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" y="3924000"/>
            <a:ext cx="900000" cy="3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Malgun Gothic"/>
              </a:rPr>
              <a:t>4월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32000" y="3924000"/>
            <a:ext cx="4320000" cy="3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리텐션 자동화 첫 캠페인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52000" y="3924000"/>
            <a:ext cx="5940000" cy="3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이탈 위험 감지 + 자동 메시지 발송 시스템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4428000"/>
            <a:ext cx="11340000" cy="198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1D4ED8"/>
                </a:solidFill>
                <a:latin typeface="Malgun Gothic"/>
              </a:rPr>
              <a:t>운영 구조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위어드섹터 담당팀: PM(일정·산출물 관리) + 데이터 엔지니어(수집·파이프라인) + 마케팅 애널리스트(분석·인사이트)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계약 조건: 月 200만원 (VAT 별도) · 3개월 최소 약정 · 긴급 대응 月 +30만원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소통 채널: Slack 실시간 연동 + 월 2회 화상 미팅 + 월말 성과 리포트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기대 효과 &amp; ROI</a:t>
            </a:r>
          </a:p>
        </p:txBody>
      </p:sp>
      <p:pic>
        <p:nvPicPr>
          <p:cNvPr id="3" name="Picture 2" descr="slide8_grow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720000"/>
            <a:ext cx="3960000" cy="216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80000" y="64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algun Gothic"/>
              </a:rPr>
              <a:t>KPI별 기대 효과 (업계 평균 기준 추정)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0000" y="936000"/>
            <a:ext cx="2520000" cy="270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KPI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0" y="936000"/>
            <a:ext cx="1980000" cy="270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3개월 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80000" y="936000"/>
            <a:ext cx="1980000" cy="270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6개월 후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0" y="1206000"/>
            <a:ext cx="2520000" cy="324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Malgun Gothic"/>
              </a:rPr>
              <a:t>팬 이탈률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0" y="1206000"/>
            <a:ext cx="1980000" cy="32400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59669"/>
                </a:solidFill>
                <a:latin typeface="Malgun Gothic"/>
              </a:rPr>
              <a:t>-15% 감소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0000" y="1206000"/>
            <a:ext cx="1980000" cy="324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59669"/>
                </a:solidFill>
                <a:latin typeface="Malgun Gothic"/>
              </a:rPr>
              <a:t>-30% 감소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0000" y="1548000"/>
            <a:ext cx="2520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Malgun Gothic"/>
              </a:rPr>
              <a:t>굿즈 전환율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0" y="1548000"/>
            <a:ext cx="1980000" cy="32400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59669"/>
                </a:solidFill>
                <a:latin typeface="Malgun Gothic"/>
              </a:rPr>
              <a:t>+30% 향상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0000" y="1548000"/>
            <a:ext cx="1980000" cy="324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59669"/>
                </a:solidFill>
                <a:latin typeface="Malgun Gothic"/>
              </a:rPr>
              <a:t>+100% 향상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0000" y="1890000"/>
            <a:ext cx="2520000" cy="324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Malgun Gothic"/>
              </a:rPr>
              <a:t>리포팅 시간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0" y="1890000"/>
            <a:ext cx="1980000" cy="32400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59669"/>
                </a:solidFill>
                <a:latin typeface="Malgun Gothic"/>
              </a:rPr>
              <a:t>-50% 절감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0000" y="1890000"/>
            <a:ext cx="1980000" cy="324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59669"/>
                </a:solidFill>
                <a:latin typeface="Malgun Gothic"/>
              </a:rPr>
              <a:t>-80% (자동화)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0000" y="2232000"/>
            <a:ext cx="2520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Malgun Gothic"/>
              </a:rPr>
              <a:t>VIP 팬 식별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0" y="2232000"/>
            <a:ext cx="1980000" cy="32400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59669"/>
                </a:solidFill>
                <a:latin typeface="Malgun Gothic"/>
              </a:rPr>
              <a:t>상위 10% 가능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0000" y="2232000"/>
            <a:ext cx="1980000" cy="324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59669"/>
                </a:solidFill>
                <a:latin typeface="Malgun Gothic"/>
              </a:rPr>
              <a:t>예측 포함 고도화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0000" y="2574000"/>
            <a:ext cx="2520000" cy="324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Malgun Gothic"/>
              </a:rPr>
              <a:t>캠페인 CTR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0" y="2574000"/>
            <a:ext cx="1980000" cy="32400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59669"/>
                </a:solidFill>
                <a:latin typeface="Malgun Gothic"/>
              </a:rPr>
              <a:t>+20% 향상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0000" y="2574000"/>
            <a:ext cx="1980000" cy="324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59669"/>
                </a:solidFill>
                <a:latin typeface="Malgun Gothic"/>
              </a:rPr>
              <a:t>+50% (개인화)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00" y="3060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algun Gothic"/>
              </a:rPr>
              <a:t>ROI 계산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3384000"/>
            <a:ext cx="2880000" cy="2160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90CAFF"/>
                </a:solidFill>
                <a:latin typeface="Malgun Gothic"/>
              </a:rPr>
              <a:t>연간 투자 비용</a:t>
            </a:r>
          </a:p>
          <a:p>
            <a:pPr algn="ctr"/>
            <a:r>
              <a:rPr sz="3200" b="1" i="0">
                <a:solidFill>
                  <a:srgbClr val="FFFFFF"/>
                </a:solidFill>
                <a:latin typeface="Malgun Gothic"/>
              </a:rPr>
              <a:t>연 2,400만원</a:t>
            </a:r>
          </a:p>
          <a:p>
            <a:pPr algn="l"/>
            <a:r>
              <a:rPr sz="1100" b="0" i="0">
                <a:solidFill>
                  <a:srgbClr val="90CAFF"/>
                </a:solidFill>
                <a:latin typeface="Malgun Gothic"/>
              </a:rPr>
              <a:t>(月 200만원 × 12개월)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0" y="3384000"/>
            <a:ext cx="8208000" cy="2160000"/>
          </a:xfrm>
          <a:prstGeom prst="rect">
            <a:avLst/>
          </a:prstGeom>
          <a:solidFill>
            <a:srgbClr val="E3F2FD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0066CC"/>
                </a:solidFill>
                <a:latin typeface="Malgun Gothic"/>
              </a:rPr>
              <a:t>절감·증가 효과 (연간 추정)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• 마케팅팀 리포팅 시간 절감 (주 5시간 × 인건비): 연 720만원+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• 이탈 팬 리텐션으로 유료 구독 유지: 연 600만원+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• 굿즈 전환율 향상 (+30% × 기존 매출): 플랫폼 규모에 비례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000" b="1" i="0">
                <a:solidFill>
                  <a:srgbClr val="D97706"/>
                </a:solidFill>
                <a:latin typeface="Malgun Gothic"/>
              </a:rPr>
              <a:t>투자금의 5.5배 이상 (보수적 추정)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왜 위어드섹터인가?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720000"/>
            <a:ext cx="5400000" cy="2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828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66CC"/>
                </a:solidFill>
                <a:latin typeface="Malgun Gothic"/>
              </a:rPr>
              <a:t>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000" y="864000"/>
            <a:ext cx="45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6CC"/>
                </a:solidFill>
                <a:latin typeface="Malgun Gothic"/>
              </a:rPr>
              <a:t>미디어·엔터 업계 경험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260000"/>
            <a:ext cx="5112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MBC 모다이브 기존 협력 이력 보유 → 맥락 이해 빠름
NHN 한게임·스마일게이트 등 게임/엔터 플랫폼 경험
팬덤 플랫폼의 특수성(감정 연관도, 이벤트 급등) 이해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0000" y="720000"/>
            <a:ext cx="5400000" cy="2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4000" y="828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D4ED8"/>
                </a:solidFill>
                <a:latin typeface="Malgun Gothic"/>
              </a:rPr>
              <a:t>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0000" y="864000"/>
            <a:ext cx="45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Malgun Gothic"/>
              </a:rPr>
              <a:t>실행 파트너십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4000" y="1260000"/>
            <a:ext cx="5112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분석 리포트만 납품하는 것이 아닌 도구를 직접 구축·운영
Data Nugget SaaS로 안정적 실시간 대시보드 제공
AI 기반 자동 리포트로 운영 비용 지속 절감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3780000"/>
            <a:ext cx="5400000" cy="2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00" y="3888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D97706"/>
                </a:solidFill>
                <a:latin typeface="Malgun Gothic"/>
              </a:rPr>
              <a:t>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000" y="3924000"/>
            <a:ext cx="45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  <a:latin typeface="Malgun Gothic"/>
              </a:rPr>
              <a:t>1,500개 기업 운영 노하우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4320000"/>
            <a:ext cx="5112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B2B·B2C·앱·웹 다양한 플랫폼 분석 경험 보유
GA4·Amplitude·Firebase·BigQuery 全 스택 실무 운영
이탈 예측·추천 시스템·LTV 모델 실제 구축 사례 다수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3780000"/>
            <a:ext cx="5400000" cy="2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4000" y="3888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59669"/>
                </a:solidFill>
                <a:latin typeface="Malgun Gothic"/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0000" y="3924000"/>
            <a:ext cx="45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Malgun Gothic"/>
              </a:rPr>
              <a:t>기술 최신성 &amp; 정부 공인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4000" y="4320000"/>
            <a:ext cx="5112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AI AGENT 융합·확산 지원사업 (NIA 2026) 수행사 선정
벤처기업 인증 · 기업부설연구소 보유
생성형 AI 기반 자동화 리포팅·추천 시스템 자체 개발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80000"/>
            <a:ext cx="12193200" cy="27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LG U+  ·  카카오페이  ·  무신사  ·  NHN 한게임  ·  MBC 모다이브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계약 조건 &amp;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84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algun Gothic"/>
              </a:rPr>
              <a:t>패키지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972000"/>
            <a:ext cx="1800000" cy="39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월 계약금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2000" y="972000"/>
            <a:ext cx="3420000" cy="396000"/>
          </a:xfrm>
          <a:prstGeom prst="rect">
            <a:avLst/>
          </a:prstGeom>
          <a:solidFill>
            <a:srgbClr val="FFF7E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D97706"/>
                </a:solidFill>
                <a:latin typeface="Malgun Gothic"/>
              </a:rPr>
              <a:t>200만원 (VAT 별도)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404000"/>
            <a:ext cx="1800000" cy="39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운영 방식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2000" y="1404000"/>
            <a:ext cx="3420000" cy="396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M/M 기반 — 우선순위 중심 실행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836000"/>
            <a:ext cx="1800000" cy="39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최소 약정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2232000" y="1836000"/>
            <a:ext cx="3420000" cy="396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3개월 (이후 월 단위 자동 갱신)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2268000"/>
            <a:ext cx="1800000" cy="39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담당팀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32000" y="2268000"/>
            <a:ext cx="3420000" cy="396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PM 1명 + 데이터 엔지니어 + 애널리스트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700000"/>
            <a:ext cx="1800000" cy="39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소통 채널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32000" y="2700000"/>
            <a:ext cx="3420000" cy="396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Slack + 월 2회 화상 미팅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132000"/>
            <a:ext cx="1800000" cy="39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산출물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2000" y="3132000"/>
            <a:ext cx="3420000" cy="396000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월말 리포트 + 대시보드 + 태스크 완료 보고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000" y="684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algun Gothic"/>
              </a:rPr>
              <a:t>계약 프로세스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000" y="972000"/>
            <a:ext cx="720000" cy="28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STEP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0" y="97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6CC"/>
                </a:solidFill>
                <a:latin typeface="Malgun Gothic"/>
              </a:rPr>
              <a:t>킥오프 미팅 (1~2시간)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1296000"/>
            <a:ext cx="52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현황 파악 · 우선순위 협의 · 접근 권한 공유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8000" y="1872000"/>
            <a:ext cx="36000" cy="324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0000" y="2232000"/>
            <a:ext cx="720000" cy="28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STEP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0" y="22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6CC"/>
                </a:solidFill>
                <a:latin typeface="Malgun Gothic"/>
              </a:rPr>
              <a:t>계약서 서명 (이후 1주일)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000" y="2556000"/>
            <a:ext cx="52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서비스 범위 · 산출물 · 기간 확정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8000" y="3132000"/>
            <a:ext cx="36000" cy="324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0000" y="3492000"/>
            <a:ext cx="720000" cy="28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000" y="349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6CC"/>
                </a:solidFill>
                <a:latin typeface="Malgun Gothic"/>
              </a:rPr>
              <a:t>온보딩 (1주일)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000" y="3816000"/>
            <a:ext cx="52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Slack 채널 세팅 · 기존 데이터 현황 감사(Audit)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8000" y="4392000"/>
            <a:ext cx="36000" cy="324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0000" y="4752000"/>
            <a:ext cx="720000" cy="28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0" y="475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6CC"/>
                </a:solidFill>
                <a:latin typeface="Malgun Gothic"/>
              </a:rPr>
              <a:t>1차 스프린트 시작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000" y="5076000"/>
            <a:ext cx="52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우선순위 1위 과제부터 즉시 실행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048000"/>
            <a:ext cx="12193200" cy="720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지금 바로 킥오프 미팅을 잡으세요.</a:t>
            </a:r>
          </a:p>
          <a:p>
            <a:pPr algn="ctr"/>
            <a:r>
              <a:rPr sz="1300" b="0" i="0">
                <a:solidFill>
                  <a:srgbClr val="90CAFF"/>
                </a:solidFill>
                <a:latin typeface="Malgun Gothic"/>
              </a:rPr>
              <a:t>미팅 1회로 현재 데이터 현황을 무료로 점검해 드립니다.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66CC"/>
              </a:gs>
              <a:gs pos="100000">
                <a:srgbClr val="1D4ED8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1072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algun Gothic"/>
              </a:rPr>
              <a:t>감사합니다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0000" y="1440000"/>
            <a:ext cx="10008000" cy="1980000"/>
          </a:xfrm>
          <a:prstGeom prst="rect">
            <a:avLst/>
          </a:prstGeom>
          <a:solidFill>
            <a:srgbClr val="002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>
                <a:solidFill>
                  <a:srgbClr val="FFFFFF"/>
                </a:solidFill>
                <a:latin typeface="Malgun Gothic"/>
              </a:rPr>
              <a:t>모잇은 팬들에게 AI로 새로운 경험을 주고 있습니다.</a:t>
            </a:r>
          </a:p>
          <a:p>
            <a:pPr algn="ctr"/>
            <a:r>
              <a:rPr sz="1600" b="0" i="1">
                <a:solidFill>
                  <a:srgbClr val="90CAFF"/>
                </a:solidFill>
                <a:latin typeface="Malgun Gothic"/>
              </a:rPr>
              <a:t>위어드섹터는 그 경험 뒤에서 데이터가 말하는 것을 듣고, 실행하는 팀이 되겠습니다.</a:t>
            </a:r>
          </a:p>
          <a:p>
            <a:pPr algn="ctr"/>
            <a:r>
              <a:rPr sz="1400" b="0" i="1">
                <a:solidFill>
                  <a:srgbClr val="90CAFF"/>
                </a:solidFill>
                <a:latin typeface="Malgun Gothic"/>
              </a:rPr>
              <a:t>팬 한 명 한 명을 더 잘 이해하고, 더 오래 함께할 수 있도록.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3491999"/>
            <a:ext cx="9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연락처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3671999"/>
            <a:ext cx="1800000" cy="360000"/>
          </a:xfrm>
          <a:prstGeom prst="rect">
            <a:avLst/>
          </a:prstGeom>
          <a:solidFill>
            <a:srgbClr val="002E80"/>
          </a:solidFill>
          <a:ln w="9525">
            <a:solidFill>
              <a:srgbClr val="90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90CAFF"/>
                </a:solidFill>
                <a:latin typeface="Malgun Gothic"/>
              </a:rPr>
              <a:t>이메일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0" y="3671999"/>
            <a:ext cx="5760000" cy="360000"/>
          </a:xfrm>
          <a:prstGeom prst="rect">
            <a:avLst/>
          </a:prstGeom>
          <a:solidFill>
            <a:srgbClr val="002E80"/>
          </a:solidFill>
          <a:ln w="9525">
            <a:solidFill>
              <a:srgbClr val="90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info@weirdsector.co.kr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0000" y="4103999"/>
            <a:ext cx="1800000" cy="360000"/>
          </a:xfrm>
          <a:prstGeom prst="rect">
            <a:avLst/>
          </a:prstGeom>
          <a:solidFill>
            <a:srgbClr val="002E80"/>
          </a:solidFill>
          <a:ln w="9525">
            <a:solidFill>
              <a:srgbClr val="90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90CAFF"/>
                </a:solidFill>
                <a:latin typeface="Malgun Gothic"/>
              </a:rPr>
              <a:t>전화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0" y="4103999"/>
            <a:ext cx="5760000" cy="360000"/>
          </a:xfrm>
          <a:prstGeom prst="rect">
            <a:avLst/>
          </a:prstGeom>
          <a:solidFill>
            <a:srgbClr val="002E80"/>
          </a:solidFill>
          <a:ln w="9525">
            <a:solidFill>
              <a:srgbClr val="90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010-6527-1218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0" y="4535999"/>
            <a:ext cx="1800000" cy="360000"/>
          </a:xfrm>
          <a:prstGeom prst="rect">
            <a:avLst/>
          </a:prstGeom>
          <a:solidFill>
            <a:srgbClr val="002E80"/>
          </a:solidFill>
          <a:ln w="9525">
            <a:solidFill>
              <a:srgbClr val="90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90CAFF"/>
                </a:solidFill>
                <a:latin typeface="Malgun Gothic"/>
              </a:rPr>
              <a:t>웹사이트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0" y="4535999"/>
            <a:ext cx="5760000" cy="360000"/>
          </a:xfrm>
          <a:prstGeom prst="rect">
            <a:avLst/>
          </a:prstGeom>
          <a:solidFill>
            <a:srgbClr val="002E80"/>
          </a:solidFill>
          <a:ln w="9525">
            <a:solidFill>
              <a:srgbClr val="90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weirdsector.co.kr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0000" y="4967999"/>
            <a:ext cx="1800000" cy="360000"/>
          </a:xfrm>
          <a:prstGeom prst="rect">
            <a:avLst/>
          </a:prstGeom>
          <a:solidFill>
            <a:srgbClr val="002E80"/>
          </a:solidFill>
          <a:ln w="9525">
            <a:solidFill>
              <a:srgbClr val="90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90CAFF"/>
                </a:solidFill>
                <a:latin typeface="Malgun Gothic"/>
              </a:rPr>
              <a:t>슬랙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0" y="4967999"/>
            <a:ext cx="5760000" cy="360000"/>
          </a:xfrm>
          <a:prstGeom prst="rect">
            <a:avLst/>
          </a:prstGeom>
          <a:solidFill>
            <a:srgbClr val="002E80"/>
          </a:solidFill>
          <a:ln w="9525">
            <a:solidFill>
              <a:srgbClr val="90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요청 시 공유 워크스페이스 개설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6408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0CAFF"/>
                </a:solidFill>
                <a:latin typeface="Malgun Gothic"/>
              </a:rPr>
              <a:t>이 제안서는 기밀 자료입니다. 무단 배포를 금합니다.  |  Weird Sector ©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