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8816" y="1533906"/>
            <a:ext cx="5413248" cy="342442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8877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494919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2286000" cy="5029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5760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9B8AFF"/>
                </a:solidFill>
                <a:latin typeface="Malgun Gothic"/>
              </a:rPr>
              <a:t>솔루션 제안서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74720"/>
            <a:ext cx="347472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4F4F8"/>
                </a:solidFill>
                <a:latin typeface="Malgun Gothic"/>
              </a:rPr>
              <a:t>모바일 마케팅 자동화 &amp; 실시간 고객 인게이지먼트 플랫폼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264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C758D"/>
                </a:solidFill>
                <a:latin typeface="Malgun Gothic"/>
              </a:rPr>
              <a:t>2026년 4월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691640" cy="868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280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3036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글로벌 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4754880"/>
            <a:ext cx="1691640" cy="868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160" y="48280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523036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754880"/>
            <a:ext cx="1691640" cy="868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48280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9B8AFF"/>
                </a:solidFill>
                <a:latin typeface="Malgun Gothic"/>
              </a:rPr>
              <a:t>25개국+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230368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서비스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algun Gothic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3677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55448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CleverTap 소개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3677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8" y="155448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주요 글로벌 고객사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58568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29514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21284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핵심 가치 제안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58568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9514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221284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제품 아키텍처 개요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916935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953511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2871215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실시간 분석 (Analytics)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16935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953511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2871215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사용자 세그멘테이션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575304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61188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3529584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멀티채널 인게이지먼트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575304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61188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3529584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AI/ML 기반 개인화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33672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2702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18795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A/B 테스트 &amp; 최적화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233672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2702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418795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핀테크/금융 활용 사례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92861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84632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효과 &amp; ROI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92040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92861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484632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프로세스 &amp; 타임라인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550408"/>
            <a:ext cx="475488" cy="47548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58698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" y="550468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가격 정책 &amp; 다음 단계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12936" y="5248656"/>
            <a:ext cx="2548128" cy="148132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viewport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7800" y="5303520"/>
            <a:ext cx="24384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01  CleverTap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모바일 마케팅 자동화의 글로벌 리더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422588"/>
            <a:ext cx="5687568" cy="3247263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ewpor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77452"/>
            <a:ext cx="5577840" cy="31375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660707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 메인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45920"/>
            <a:ext cx="5577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CleverTap은 2013년 설립된 글로벌 모바일 마케팅 자동화 &amp; 분석 플랫폼으로,
앱 비즈니스가 사용자를 유지하고 성장시킬 수 있도록 돕는 올인원 솔루션입니다.
실시간 행동 데이터를 기반으로 개인화된 메시지를 적시에 전달하여
고객 참여도와 매출을 극대화합니다.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49039"/>
            <a:ext cx="1755648" cy="102412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1755648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40479"/>
            <a:ext cx="15727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9B8AFF"/>
                </a:solidFill>
                <a:latin typeface="Malgun Gothic"/>
              </a:rPr>
              <a:t>2013년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43399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3749039"/>
            <a:ext cx="1755648" cy="102412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77440" y="3749039"/>
            <a:ext cx="1755648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3840479"/>
            <a:ext cx="15727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343399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글로벌 고객사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3749039"/>
            <a:ext cx="1755648" cy="102412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749039"/>
            <a:ext cx="1755648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3840479"/>
            <a:ext cx="15727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9B8AFF"/>
                </a:solidFill>
                <a:latin typeface="Malgun Gothic"/>
              </a:rPr>
              <a:t>50+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343399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국가 서비스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37759"/>
            <a:ext cx="1755648" cy="102412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37759"/>
            <a:ext cx="1755648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029199"/>
            <a:ext cx="15727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532119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4937759"/>
            <a:ext cx="1755648" cy="102412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77440" y="4937759"/>
            <a:ext cx="1755648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0" y="5029199"/>
            <a:ext cx="15727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9B8AFF"/>
                </a:solidFill>
                <a:latin typeface="Malgun Gothic"/>
              </a:rPr>
              <a:t>600+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5532119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임직원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4937759"/>
            <a:ext cx="1755648" cy="102412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97680" y="4937759"/>
            <a:ext cx="1755648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29199"/>
            <a:ext cx="15727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9B8AFF"/>
                </a:solidFill>
                <a:latin typeface="Malgun Gothic"/>
              </a:rPr>
              <a:t>$105M+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5532119"/>
            <a:ext cx="15727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누적 투자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02  주요 글로벌 고객사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전 세계 10,000+ 앱이 CleverTap을 신뢰합니다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clevertap.com/customers/ 화면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" y="18470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8562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1488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Jio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5603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인도 최대 통신사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17373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31720" y="17373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96312" y="18470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18562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이커머스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96312" y="21488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Swiggy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96312" y="25603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푸드 딜리버리 1위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17373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0" y="17373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70832" y="18470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8562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핀테크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21488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PhonePe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25603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UPI 결제 플랫폼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3375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3375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" y="34472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4564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금융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37490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Axis Bank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41605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인도 3대 민간은행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3375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0" y="33375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6312" y="34472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14600" y="34564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미디어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6312" y="37490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Disney+ Hotstar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96312" y="41605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OTT 스트리밍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3375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6240" y="33375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70832" y="34472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34564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70832" y="37490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Vodafone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70832" y="41605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글로벌 통신사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377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9377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" y="50474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566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리테일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53492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Puma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" y="57607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스포츠 브랜드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31720" y="49377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331720" y="49377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496312" y="50474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14600" y="50566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마켓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96312" y="53492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OLX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12" y="57607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중고거래 플랫폼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06240" y="4937760"/>
            <a:ext cx="169164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206240" y="493776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70832" y="5047488"/>
            <a:ext cx="731520" cy="23774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5056632"/>
            <a:ext cx="694944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이커머스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534924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Carousell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70832" y="5760720"/>
            <a:ext cx="1417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C758D"/>
                </a:solidFill>
                <a:latin typeface="Malgun Gothic"/>
              </a:rPr>
              <a:t>동남아 커머스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03  핵심 가치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왜 CleverTap인가?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5486400" cy="15087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4864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801368"/>
            <a:ext cx="621792" cy="62179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0136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latin typeface="Malgun Gothic"/>
              </a:rP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6479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올인원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167128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분석→세그멘테이션→캠페인→최적화
하나의 플랫폼에서 완결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5486400" cy="15087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600200"/>
            <a:ext cx="54864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3952" y="1801368"/>
            <a:ext cx="621792" cy="62179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80136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latin typeface="Malgun Gothic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76479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실시간 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167128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초당 수백만 이벤트 처리
즉각적인 의사결정 지원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5486400" cy="15087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291840"/>
            <a:ext cx="54864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3493008"/>
            <a:ext cx="621792" cy="62179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49300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latin typeface="Malgun Gothic"/>
              </a:rPr>
              <a:t>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45643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AI 기반 개인화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858768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ML 알고리즘으로 최적 메시지
사용자별 자동 전달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291840"/>
            <a:ext cx="5486400" cy="15087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291840"/>
            <a:ext cx="54864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3952" y="3493008"/>
            <a:ext cx="621792" cy="62179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49300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latin typeface="Malgun Gothic"/>
              </a:rPr>
              <a:t>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345643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멀티채널 통합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858768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푸시·이메일·SMS·인앱·WhatsApp
단일 플랫폼에서 통합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5486400" cy="15087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983480"/>
            <a:ext cx="54864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" y="5184648"/>
            <a:ext cx="621792" cy="62179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518464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latin typeface="Malgun Gothic"/>
              </a:rPr>
              <a:t>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14807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강력한 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550408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퍼널·코호트·플로우 분석
깊이 있는 행동 인사이트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983480"/>
            <a:ext cx="5486400" cy="15087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983480"/>
            <a:ext cx="54864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73952" y="5184648"/>
            <a:ext cx="621792" cy="62179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5184648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latin typeface="Malgun Gothic"/>
              </a:rPr>
              <a:t>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5148072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엔터프라이즈 보안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5550408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SOC2·GDPR·ISO 27001 인증
금융/헬스케어 수준 보안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04  제품 아키텍처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수집부터 실행까지 — 완전 통합 플랫폼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422588"/>
            <a:ext cx="5687568" cy="3247263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ewport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77452"/>
            <a:ext cx="5577840" cy="31375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660707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clevertap.com/product/ 화면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8961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47472" cy="89611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938528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7830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수집 레이어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67128"/>
            <a:ext cx="4937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SDK (iOS/Android/Web) · REST API · S3 커넥터 · 서드파티 통합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61488"/>
            <a:ext cx="5577840" cy="89611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347472" cy="89611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962656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80720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처리 레이어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191256"/>
            <a:ext cx="4937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실시간 스트림 처리 · 사용자 프로필 병합 · 이벤트 저장소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85616"/>
            <a:ext cx="5577840" cy="896112"/>
          </a:xfrm>
          <a:prstGeom prst="rect">
            <a:avLst/>
          </a:prstGeom>
          <a:solidFill>
            <a:srgbClr val="3D5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85616"/>
            <a:ext cx="347472" cy="89611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986784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83133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분석 &amp; AI 레이어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215384"/>
            <a:ext cx="4937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행동 분석 · ML 모델 · 예측 세그멘테이션 · 최적 전송 시간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09744"/>
            <a:ext cx="5577840" cy="8961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09744"/>
            <a:ext cx="347472" cy="896112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010912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55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실행 레이어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239512"/>
            <a:ext cx="4937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캠페인 관리 · 멀티채널 전송 · A/B 테스트 · 자동화 워크플로우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05  실시간 분석 (Analytics)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모든 데이터를 실시간으로 — 즉각적인 비즈니스 인사이트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Analytics 대시보드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577840" cy="74980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45720" cy="749808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퍼널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전환율 추적, 이탈 지점 파악, 퍼널 최적화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5577840" cy="74980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60320"/>
            <a:ext cx="45720" cy="749808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0604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코호트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4436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그룹별 리텐션 트렌드 분석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5577840" cy="74980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45720" cy="749808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7472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플로우 분석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1304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탐색 패턴 시각화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97679"/>
            <a:ext cx="5577840" cy="74980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297679"/>
            <a:ext cx="45720" cy="749808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43399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이벤트 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7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커스텀 이벤트 실시간 트래킹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66360"/>
            <a:ext cx="5577840" cy="749808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166360"/>
            <a:ext cx="45720" cy="749808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21208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피벗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550408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다차원 데이터 분석 및 리포팅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06  사용자 세그멘테이션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정밀한 타겟팅으로 관련성 높은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Segmentation 화면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2651760" cy="17830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26517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745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정적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317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고정된 기준으로 사용자 그룹화
예: 연령대별, 지역별, 가입일별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737360"/>
            <a:ext cx="2651760" cy="17830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737360"/>
            <a:ext cx="26517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8745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동적 세그먼트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3172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실시간 행동에 따라 자동 업데이트
예: 최근 7일 미접속자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2651760" cy="17830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26517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886199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RFM 세그먼트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343399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Recency·Frequency·Monetary 기반
고가치 사용자 자동 식별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749039"/>
            <a:ext cx="2651760" cy="17830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83280" y="3749039"/>
            <a:ext cx="26517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886199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343399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ML로 이탈/구매 의향 사전 예측
선제적 대응 가능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07  멀티채널 인게이지먼트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고객이 있는 모든 채널에서 일관된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Engagement 화면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2011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17373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latin typeface="Malgun Gothic"/>
              </a:rPr>
              <a:t>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푸시 알림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07792"/>
            <a:ext cx="1554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iOS/Android
리치 푸시, 딥링크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1737360"/>
            <a:ext cx="1737360" cy="2011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77440" y="1737360"/>
            <a:ext cx="17373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latin typeface="Malgun Gothic"/>
              </a:rPr>
              <a:t>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487168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907792"/>
            <a:ext cx="1554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드래그&amp;드롭 에디터
AMP 이메일 지원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1737360"/>
            <a:ext cx="1737360" cy="2011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1737360"/>
            <a:ext cx="17373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184708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latin typeface="Malgun Gothic"/>
              </a:rPr>
              <a:t>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487168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SMS/MMS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907792"/>
            <a:ext cx="1554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 연동
개인화 메시지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977639"/>
            <a:ext cx="1737360" cy="2011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977639"/>
            <a:ext cx="17373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08736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latin typeface="Malgun Gothic"/>
              </a:rPr>
              <a:t>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27447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인앱 메시지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148071"/>
            <a:ext cx="1554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풀스크린/배너/팝업
실시간 노출 조건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3977639"/>
            <a:ext cx="1737360" cy="2011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77440" y="3977639"/>
            <a:ext cx="17373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8880" y="408736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latin typeface="Malgun Gothic"/>
              </a:rP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727447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웹 푸시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5148071"/>
            <a:ext cx="1554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브라우저 알림
세션 외 재참여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3977639"/>
            <a:ext cx="1737360" cy="2011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80" y="3977639"/>
            <a:ext cx="173736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4087367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latin typeface="Malgun Gothic"/>
              </a:rPr>
              <a:t>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727447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WhatsApp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5148071"/>
            <a:ext cx="1554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공식 비즈니스 API
템플릿 메시지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08  AI/ML 기반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머신러닝으로 구현하는 1:1 초개인화 마케팅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AI 기능 화면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788920" cy="13533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13533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🤖 Clever.AI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21992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CleverTap 독자 AI 엔진 — 고객 행동 학습 및 예측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1691640"/>
            <a:ext cx="2788920" cy="13533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1691640"/>
            <a:ext cx="54864" cy="13533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78308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⏰ 최적 전송 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221992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각 사용자별 최적 수신 시간 자동 선택 (오픈율 47% 향상)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2788920" cy="13533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54864" cy="13533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9184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🎯 예측 세그먼트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30752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이탈 예측·구매 예측·구독 해지 예측, LTV 기반 자동 분류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3200400"/>
            <a:ext cx="2788920" cy="13533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0" y="3200400"/>
            <a:ext cx="54864" cy="13533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329184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💡 동적 콘텐츠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3730752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개인 프로필 기반 실시간 콘텐츠 변환 &amp; 제품 추천 자동화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09160"/>
            <a:ext cx="2788920" cy="13533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709160"/>
            <a:ext cx="54864" cy="13533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800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📈 자동 최적화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39512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A/B 테스트 자동 승자 선택, 트래픽 동적 배분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4709160"/>
            <a:ext cx="2788920" cy="13533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4709160"/>
            <a:ext cx="54864" cy="13533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4800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🔮 이탈 방지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239512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이탈 위험 사용자 선제 감지, 재참여 캠페인 자동 트리거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09  A/B 테스트 &amp; 최적화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기반 의사결정으로 마케팅 성과 극대화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A/B Testing 화면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577840" cy="8961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45720" cy="89611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6479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메시지 A/B 테스트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671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제목·본문·CTA 버튼·이미지·이모지 테스트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5577840" cy="8961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15768"/>
            <a:ext cx="45720" cy="89611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전송 시간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912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발송 시간대별 성과 비교, 요일/시간 최적화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39896"/>
            <a:ext cx="5577840" cy="8961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39896"/>
            <a:ext cx="45720" cy="89611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130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채널 A/B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15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푸시 vs 이메일 vs SMS 채널별 효과 측정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64024"/>
            <a:ext cx="5577840" cy="89611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64024"/>
            <a:ext cx="45720" cy="89611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3717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자동 승자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95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통계적 유의성 기반 자동 선택, 트래픽 손실 최소화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737360" cy="91440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80644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47%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093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오픈율 향상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0" y="5760720"/>
            <a:ext cx="1737360" cy="91440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68880" y="580644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32%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68880" y="63093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전환율 개선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0" y="5760720"/>
            <a:ext cx="1737360" cy="91440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80644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2.3x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63093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ROI 증가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10  핀테크/금융 업계 활용 사례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금융 서비스에 최적화된 마케팅 자동화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5936" y="2248281"/>
            <a:ext cx="5687568" cy="3595878"/>
          </a:xfrm>
          <a:prstGeom prst="rect">
            <a:avLst/>
          </a:prstGeom>
          <a:solidFill>
            <a:srgbClr val="222244"/>
          </a:solidFill>
          <a:ln w="12700">
            <a:solidFill>
              <a:srgbClr val="3D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03145"/>
            <a:ext cx="5577840" cy="3486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8350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글로벌 금융 고객사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5577840" cy="768096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45720" cy="76809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373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신규 가입 온보딩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9397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가입 후 7일 온보딩 시나리오 — 단계별 안내로 첫 거래 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78608"/>
            <a:ext cx="5577840" cy="768096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78608"/>
            <a:ext cx="45720" cy="76809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2432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KYC 완료 독려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809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미완료 사용자 자동 리마인드 — 채널별 순차 발송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65576"/>
            <a:ext cx="5577840" cy="768096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465576"/>
            <a:ext cx="45720" cy="76809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1129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투자 상품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6791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거래 이력 기반 AI 상품 추천 — 맞춤형 리스크 등급별 제안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52544"/>
            <a:ext cx="5577840" cy="768096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52544"/>
            <a:ext cx="45720" cy="76809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9826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 캠페인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30일 미거래 사용자 자동 감지 — 특별 혜택 오퍼 발송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239512"/>
            <a:ext cx="5577840" cy="768096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239512"/>
            <a:ext cx="45720" cy="76809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28523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거래 알림 &amp; 크로스셀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4184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실시간 거래 알림 + 크로스셀 — 수수료 면제 프로모션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11  도입 효과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측정된 성과 — 실제 고객사 기준 평균 수치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356616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3566160" cy="54864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3291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43%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리텐션율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8152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이탈 방지 캠페인 적용 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691640"/>
            <a:ext cx="356616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566160" cy="54864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28800"/>
            <a:ext cx="3291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2.8배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마케팅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8152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전통 채널 대비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691640"/>
            <a:ext cx="356616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91640"/>
            <a:ext cx="3566160" cy="54864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828800"/>
            <a:ext cx="3291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62%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인게이지먼트 증가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08152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개인화 메시지 적용 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356616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3566160" cy="54864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023360"/>
            <a:ext cx="3291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463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마케팅 비용 절감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2760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자동화로 운영 효율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886200"/>
            <a:ext cx="356616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86200"/>
            <a:ext cx="3566160" cy="54864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023360"/>
            <a:ext cx="3291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8463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캠페인 실행 속도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2760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수동 대비 자동화 효과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886200"/>
            <a:ext cx="356616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3886200"/>
            <a:ext cx="3566160" cy="54864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5320" y="4023360"/>
            <a:ext cx="32918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8463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고객 만족도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2760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NPS 기준 CleverTap 도입사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12  도입 프로세스 &amp;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빠르고 안전한 구축 — 평균 4주 내 라이브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200400"/>
            <a:ext cx="1069848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7360" y="2999232"/>
            <a:ext cx="438912" cy="438912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91640"/>
            <a:ext cx="2468880" cy="12618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B8AFF"/>
                </a:solidFill>
                <a:latin typeface="Malgun Gothic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킥오프 &amp; 설계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2468880" cy="19202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749039"/>
            <a:ext cx="21945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요구사항 정의
SDK 통합 계획
이벤트 텍소노미 설계</a:t>
            </a:r>
          </a:p>
        </p:txBody>
      </p:sp>
      <p:sp>
        <p:nvSpPr>
          <p:cNvPr id="14" name="Oval 13"/>
          <p:cNvSpPr/>
          <p:nvPr/>
        </p:nvSpPr>
        <p:spPr>
          <a:xfrm>
            <a:off x="4480560" y="2999232"/>
            <a:ext cx="438912" cy="438912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1691640"/>
            <a:ext cx="2468880" cy="12618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737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B8AFF"/>
                </a:solidFill>
                <a:latin typeface="Malgun Gothic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SDK 통합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657600"/>
            <a:ext cx="2468880" cy="19202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749039"/>
            <a:ext cx="21945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iOS/Android SDK
이벤트 태깅
데이터 검증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0" y="2999232"/>
            <a:ext cx="438912" cy="438912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691640"/>
            <a:ext cx="2468880" cy="12618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737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B8AFF"/>
                </a:solidFill>
                <a:latin typeface="Malgun Gothic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캠페인 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657600"/>
            <a:ext cx="2468880" cy="19202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3749039"/>
            <a:ext cx="21945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세그멘테이션 설정
캠페인 템플릿
A/B 테스트 설계</a:t>
            </a:r>
          </a:p>
        </p:txBody>
      </p:sp>
      <p:sp>
        <p:nvSpPr>
          <p:cNvPr id="26" name="Oval 25"/>
          <p:cNvSpPr/>
          <p:nvPr/>
        </p:nvSpPr>
        <p:spPr>
          <a:xfrm>
            <a:off x="9966960" y="2999232"/>
            <a:ext cx="438912" cy="438912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1691640"/>
            <a:ext cx="2468880" cy="12618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173736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B8AFF"/>
                </a:solidFill>
                <a:latin typeface="Malgun Gothic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10312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라이브 &amp; 최적화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0" y="3657600"/>
            <a:ext cx="2468880" cy="19202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5712" y="3749039"/>
            <a:ext cx="21945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첫 캠페인 발송
성과 모니터링
피드백 반영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309360"/>
            <a:ext cx="11247120" cy="384048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Malgun Gothic"/>
              </a:rPr>
              <a:t>전담 CSM 배정  |  한국어 기술 지원  |  24/7 모니터링  |  전용 온보딩 플레이북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526760236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13  가격 정책 &amp;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26760236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비즈니스 규모에 맞는 유연한 플랜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3566160" cy="46634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76272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Essentials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스타트업 &amp; 성장기
MAU 50만 이하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273552"/>
            <a:ext cx="3346704" cy="36576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0156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핵심 분석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5020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푸시 + 이메일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9884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기본 세그멘테이션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4748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이메일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691640"/>
            <a:ext cx="3566160" cy="466344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91640"/>
            <a:ext cx="3566160" cy="3657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719072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</a:rPr>
              <a:t>★ 추천 플랜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76272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Advanced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Mid-Market
MAU 500만 이하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3128" y="3273552"/>
            <a:ext cx="3346704" cy="36576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40156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Essentials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95020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AI 예측 세그먼트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49884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멀티채널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504748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전담 CSM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691640"/>
            <a:ext cx="3566160" cy="46634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176272"/>
            <a:ext cx="3200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대기업 &amp; 금융기관
MAU 무제한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8" y="3273552"/>
            <a:ext cx="3346704" cy="36576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40156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Advanced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95020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커스텀 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49884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온프레미스 옵션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04748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✓  전용 인프라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8AFF"/>
                </a:solidFill>
                <a:latin typeface="Malgun Gothic"/>
              </a:rPr>
              <a:t>다음 단계: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629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① POC 범위 확정  →  ② 무료 파일럿 (2주)  →  ③ 맞춤 견적  →  ④ 계약 &amp; 온보딩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0" y="1280160"/>
            <a:ext cx="8869680" cy="43891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0" y="1280160"/>
            <a:ext cx="8869680" cy="6400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7830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Malgun Gothic"/>
              </a:rPr>
              <a:t>지금 바로 시작하세요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24912"/>
            <a:ext cx="8503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8AFF"/>
                </a:solidFill>
                <a:latin typeface="Malgun Gothic"/>
              </a:rPr>
              <a:t>2주 무료 파일럿 프로그램 신청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28416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F4F8"/>
                </a:solidFill>
                <a:latin typeface="Malgun Gothic"/>
              </a:rPr>
              <a:t>실제 데이터로 CleverTap의 가치를 직접 확인하세요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4041648"/>
            <a:ext cx="3566160" cy="6400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408736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algun Gothic"/>
              </a:rPr>
              <a:t>데모 신청하기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7607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C758D"/>
                </a:solidFill>
                <a:latin typeface="Malgun Gothic"/>
              </a:rPr>
              <a:t>웹사이트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0807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B8AFF"/>
                </a:solidFill>
                <a:latin typeface="Malgun Gothic"/>
              </a:rPr>
              <a:t>clevertap.com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7607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C758D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60807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B8AFF"/>
                </a:solidFill>
                <a:latin typeface="Malgun Gothic"/>
              </a:rPr>
              <a:t>korea@clevertap.com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7607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C758D"/>
                </a:solidFill>
                <a:latin typeface="Malgun Gothic"/>
              </a:rPr>
              <a:t>전화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0807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B8AFF"/>
                </a:solidFill>
                <a:latin typeface="Malgun Gothic"/>
              </a:rPr>
              <a:t>+82-2-XXXX-XXXX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28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