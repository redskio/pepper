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shot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74320"/>
            <a:ext cx="5669280" cy="6309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0" y="0"/>
            <a:ext cx="597103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"/>
            <a:ext cx="5303520" cy="5943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365760"/>
            <a:ext cx="2011680" cy="4572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840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CleverTap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algun Gothic"/>
              </a:rPr>
              <a:t>CleverTap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9B8AFF"/>
                </a:solidFill>
                <a:latin typeface="Malgun Gothic"/>
              </a:rPr>
              <a:t>솔루션 제안서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3200400" cy="36576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4F4F8"/>
                </a:solidFill>
                <a:latin typeface="Malgun Gothic"/>
              </a:rPr>
              <a:t>모바일 마케팅 자동화 &amp; 실시간 고객 인게이지먼트 플랫폼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C758D"/>
                </a:solidFill>
                <a:latin typeface="Malgun Gothic"/>
              </a:rPr>
              <a:t>2026년 4월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54880"/>
            <a:ext cx="1554480" cy="822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10,000+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66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글로벌 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4754880"/>
            <a:ext cx="1554480" cy="822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12조+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166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월간 이벤트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754880"/>
            <a:ext cx="1554480" cy="8229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8AFF"/>
                </a:solidFill>
                <a:latin typeface="Malgun Gothic"/>
              </a:rPr>
              <a:t>25개국+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5166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서비스 국가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algun Gothic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B8AFF"/>
                </a:solidFill>
                <a:latin typeface="Malgun Gothic"/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544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CleverTap 소개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600200"/>
            <a:ext cx="457200" cy="4572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627632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5544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주요 글로벌 고객사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58568"/>
            <a:ext cx="457200" cy="4572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2860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21284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핵심 가치 제안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258568"/>
            <a:ext cx="457200" cy="4572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28600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1284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제품 아키텍처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916935"/>
            <a:ext cx="457200" cy="4572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944367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871215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실시간 분석 (Analytics)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916935"/>
            <a:ext cx="457200" cy="4572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2944367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871215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사용자 세그멘테이션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575304"/>
            <a:ext cx="457200" cy="4572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602736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52958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멀티채널 인게이지먼트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575304"/>
            <a:ext cx="457200" cy="4572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3602736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52958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AI/ML 기반 개인화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233672"/>
            <a:ext cx="457200" cy="4572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261104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18795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A/B 테스트 &amp; 최적화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4233672"/>
            <a:ext cx="457200" cy="4572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4261104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18795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핀테크 활용 사례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892040"/>
            <a:ext cx="457200" cy="4572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919472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48463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도입 효과 &amp; ROI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4892040"/>
            <a:ext cx="457200" cy="4572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4919472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8463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도입 프로세스 &amp; 타임라인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550408"/>
            <a:ext cx="457200" cy="4572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5577840"/>
            <a:ext cx="4206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550468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Malgun Gothic"/>
              </a:rPr>
              <a:t>가격 정책 &amp; 다음 단계</a:t>
            </a:r>
          </a:p>
        </p:txBody>
      </p:sp>
      <p:pic>
        <p:nvPicPr>
          <p:cNvPr id="46" name="Picture 45" descr="viewport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5029200"/>
            <a:ext cx="32004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01  CleverTap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8AFF"/>
                </a:solidFill>
                <a:latin typeface="Malgun Gothic"/>
              </a:rPr>
              <a:t>모바일 마케팅 자동화의 글로벌 리더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4F8"/>
                </a:solidFill>
                <a:latin typeface="Malgun Gothic"/>
              </a:rPr>
              <a:t>CleverTap은 2013년 설립된 글로벌 모바일 마케팅 자동화 &amp; 분석 플랫폼으로,
앱 비즈니스가 사용자를 유지하고 성장시킬 수 있도록 돕는 올인원 솔루션입니다.
실시간 행동 데이터를 기반으로 개인화된 메시지를 적시에 전달하여
고객 참여도와 매출을 극대화합니다.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5760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1737360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490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B8AFF"/>
                </a:solidFill>
                <a:latin typeface="Malgun Gothic"/>
              </a:rPr>
              <a:t>2013년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2452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설립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365760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0" y="3657600"/>
            <a:ext cx="1737360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37490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B8AFF"/>
                </a:solidFill>
                <a:latin typeface="Malgun Gothic"/>
              </a:rPr>
              <a:t>10,000+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22452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글로벌 고객사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65760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3657600"/>
            <a:ext cx="1737360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7490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B8AFF"/>
                </a:solidFill>
                <a:latin typeface="Malgun Gothic"/>
              </a:rPr>
              <a:t>50+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22452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국가 서비스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846320"/>
            <a:ext cx="1737360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B8AFF"/>
                </a:solidFill>
                <a:latin typeface="Malgun Gothic"/>
              </a:rPr>
              <a:t>12조+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132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월간 이벤트 처리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84632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68880" y="4846320"/>
            <a:ext cx="1737360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49377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B8AFF"/>
                </a:solidFill>
                <a:latin typeface="Malgun Gothic"/>
              </a:rPr>
              <a:t>600+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4132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임직원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4846320"/>
            <a:ext cx="1737360" cy="10058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4846320"/>
            <a:ext cx="1737360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9377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B8AFF"/>
                </a:solidFill>
                <a:latin typeface="Malgun Gothic"/>
              </a:rPr>
              <a:t>$105M+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4132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누적 투자 유치</a:t>
            </a:r>
          </a:p>
        </p:txBody>
      </p:sp>
      <p:pic>
        <p:nvPicPr>
          <p:cNvPr id="32" name="Picture 31" descr="screenshot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669280" cy="438912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6217920" y="1554480"/>
            <a:ext cx="5669280" cy="4389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viewport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53035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02  주요 글로벌 고객사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8AFF"/>
                </a:solidFill>
                <a:latin typeface="Malgun Gothic"/>
              </a:rPr>
              <a:t>전 세계 10,000+ 앱이 CleverTap을 신뢰합니다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383280" cy="13716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9728" cy="1371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74520"/>
            <a:ext cx="777240" cy="2560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883664"/>
            <a:ext cx="7406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algun Gothic"/>
              </a:rPr>
              <a:t>통신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algun Gothic"/>
              </a:rPr>
              <a:t>Jio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8D"/>
                </a:solidFill>
                <a:latin typeface="Malgun Gothic"/>
              </a:rPr>
              <a:t>인도 최대 통신사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737360"/>
            <a:ext cx="3383280" cy="13716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737360"/>
            <a:ext cx="109728" cy="1371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79" y="1874520"/>
            <a:ext cx="777240" cy="2560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7" y="1883664"/>
            <a:ext cx="7406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algun Gothic"/>
              </a:rPr>
              <a:t>이커머스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2194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algun Gothic"/>
              </a:rPr>
              <a:t>Swiggy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8D"/>
                </a:solidFill>
                <a:latin typeface="Malgun Gothic"/>
              </a:rPr>
              <a:t>푸드 딜리버리 1위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19" y="1737360"/>
            <a:ext cx="3383280" cy="13716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19" y="1737360"/>
            <a:ext cx="109728" cy="1371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19" y="1874520"/>
            <a:ext cx="777240" cy="2560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7" y="1883664"/>
            <a:ext cx="7406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algun Gothic"/>
              </a:rPr>
              <a:t>핀테크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194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algun Gothic"/>
              </a:rPr>
              <a:t>PhonePe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8D"/>
                </a:solidFill>
                <a:latin typeface="Malgun Gothic"/>
              </a:rPr>
              <a:t>UPI 결제 플랫폼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291839"/>
            <a:ext cx="3383280" cy="13716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291839"/>
            <a:ext cx="109728" cy="1371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428999"/>
            <a:ext cx="777240" cy="2560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3438143"/>
            <a:ext cx="7406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algun Gothic"/>
              </a:rPr>
              <a:t>금융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74903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algun Gothic"/>
              </a:rPr>
              <a:t>Axis Bank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1605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8D"/>
                </a:solidFill>
                <a:latin typeface="Malgun Gothic"/>
              </a:rPr>
              <a:t>인도 3대 민간은행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79" y="3291839"/>
            <a:ext cx="3383280" cy="13716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79" y="3291839"/>
            <a:ext cx="109728" cy="1371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26279" y="3428999"/>
            <a:ext cx="777240" cy="2560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44567" y="3438143"/>
            <a:ext cx="7406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algun Gothic"/>
              </a:rPr>
              <a:t>미디어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79" y="374903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algun Gothic"/>
              </a:rPr>
              <a:t>Disney+ Hotstar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79" y="41605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8D"/>
                </a:solidFill>
                <a:latin typeface="Malgun Gothic"/>
              </a:rPr>
              <a:t>OTT 스트리밍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19" y="3291839"/>
            <a:ext cx="3383280" cy="13716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19" y="3291839"/>
            <a:ext cx="109728" cy="1371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75319" y="3428999"/>
            <a:ext cx="777240" cy="2560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3607" y="3438143"/>
            <a:ext cx="7406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algun Gothic"/>
              </a:rPr>
              <a:t>통신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19" y="374903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algun Gothic"/>
              </a:rPr>
              <a:t>Vodafone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19" y="41605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8D"/>
                </a:solidFill>
                <a:latin typeface="Malgun Gothic"/>
              </a:rPr>
              <a:t>글로벌 통신사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846320"/>
            <a:ext cx="3383280" cy="13716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4846320"/>
            <a:ext cx="109728" cy="1371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4983480"/>
            <a:ext cx="777240" cy="2560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528" y="4992624"/>
            <a:ext cx="7406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algun Gothic"/>
              </a:rPr>
              <a:t>리테일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303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algun Gothic"/>
              </a:rPr>
              <a:t>Puma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715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8D"/>
                </a:solidFill>
                <a:latin typeface="Malgun Gothic"/>
              </a:rPr>
              <a:t>스포츠 브랜드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97679" y="4846320"/>
            <a:ext cx="3383280" cy="13716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97679" y="4846320"/>
            <a:ext cx="109728" cy="1371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26279" y="4983480"/>
            <a:ext cx="777240" cy="2560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44567" y="4992624"/>
            <a:ext cx="7406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algun Gothic"/>
              </a:rPr>
              <a:t>마켓플레이스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79" y="5303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algun Gothic"/>
              </a:rPr>
              <a:t>OLX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26279" y="5715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8D"/>
                </a:solidFill>
                <a:latin typeface="Malgun Gothic"/>
              </a:rPr>
              <a:t>중고거래 플랫폼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46719" y="4846320"/>
            <a:ext cx="3383280" cy="13716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46719" y="4846320"/>
            <a:ext cx="109728" cy="13716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75319" y="4983480"/>
            <a:ext cx="777240" cy="25603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93607" y="4992624"/>
            <a:ext cx="7406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algun Gothic"/>
              </a:rPr>
              <a:t>이커머스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19" y="5303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algun Gothic"/>
              </a:rPr>
              <a:t>Carousell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5319" y="5715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C758D"/>
                </a:solidFill>
                <a:latin typeface="Malgun Gothic"/>
              </a:rPr>
              <a:t>동남아 커머스</a:t>
            </a:r>
          </a:p>
        </p:txBody>
      </p:sp>
      <p:pic>
        <p:nvPicPr>
          <p:cNvPr id="61" name="Picture 60" descr="screenshot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943600"/>
            <a:ext cx="1097280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03  핵심 가치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8AFF"/>
                </a:solidFill>
                <a:latin typeface="Malgun Gothic"/>
              </a:rPr>
              <a:t>왜 CleverTap인가?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30352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530352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20"/>
            <a:ext cx="640080" cy="6400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Malgun Gothic"/>
              </a:rP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올인원 플랫폼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212848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분석 → 세그멘테이션 → 캠페인 → 최적화까지
하나의 플랫폼에서 완결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530352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530352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874520"/>
            <a:ext cx="640080" cy="6400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Malgun Gothic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실시간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212848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초당 수백만 이벤트를 실시간 처리
즉각적인 의사결정 지원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530352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91840"/>
            <a:ext cx="530352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520440"/>
            <a:ext cx="640080" cy="6400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20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Malgun Gothic"/>
              </a:rPr>
              <a:t>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AI 기반 개인화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58768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ML 알고리즘으로 각 사용자에게
최적의 메시지를 자동 전달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91840"/>
            <a:ext cx="530352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291840"/>
            <a:ext cx="530352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520440"/>
            <a:ext cx="640080" cy="6400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520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Malgun Gothic"/>
              </a:rPr>
              <a:t>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멀티채널 통합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858768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푸시, 이메일, SMS, 인앱, WhatsApp
모든 채널을 단일 플랫폼에서 관리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937760"/>
            <a:ext cx="530352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937760"/>
            <a:ext cx="530352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5166360"/>
            <a:ext cx="640080" cy="6400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166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Malgun Gothic"/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120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강력한 분석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5504688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퍼널, 코호트, 플로우 분석
깊이 있는 사용자 행동 인사이트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937760"/>
            <a:ext cx="5303520" cy="1463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4937760"/>
            <a:ext cx="5303520" cy="457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Malgun Gothic"/>
              </a:rPr>
              <a:t>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5120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엔터프라이즈 보안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5504688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SOC2, GDPR, ISO 27001 인증
금융/헬스케어 수준 보안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04  제품 아키텍처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8AFF"/>
                </a:solidFill>
                <a:latin typeface="Malgun Gothic"/>
              </a:rPr>
              <a:t>데이터 수집부터 실행까지 — 완전 통합 플랫폼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669280" cy="86868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65760" cy="8686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920240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830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데이터 수집 레이어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488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SDK (iOS/Android/Web) · REST API · S3 커넥터 · 서드파티 통합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5669280" cy="8686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365760" cy="8686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926080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7889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데이터 처리 레이어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1546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실시간 스트림 처리 · 사용자 프로필 병합 · 이벤트 저장소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39"/>
            <a:ext cx="5669280" cy="868680"/>
          </a:xfrm>
          <a:prstGeom prst="rect">
            <a:avLst/>
          </a:prstGeom>
          <a:solidFill>
            <a:srgbClr val="3D5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49039"/>
            <a:ext cx="365760" cy="8686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931919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79475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분석 &amp; AI 레이어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160519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행동 분석 · ML 모델 · 예측 세그멘테이션 · 최적 전송 시간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54880"/>
            <a:ext cx="5669280" cy="86868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754880"/>
            <a:ext cx="365760" cy="8686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937760"/>
            <a:ext cx="3291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800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실행 레이어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1663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캠페인 관리 · 멀티채널 전송 · A/B 테스트 · 자동화 워크플로우</a:t>
            </a:r>
          </a:p>
        </p:txBody>
      </p:sp>
      <p:pic>
        <p:nvPicPr>
          <p:cNvPr id="27" name="Picture 26" descr="screenshot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5303520" cy="411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92240" y="5669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C758D"/>
                </a:solidFill>
                <a:latin typeface="Malgun Gothic"/>
              </a:rPr>
              <a:t>CleverTap 제품 대시보드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05  실시간 분석 (Analytics)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8AFF"/>
                </a:solidFill>
                <a:latin typeface="Malgun Gothic"/>
              </a:rPr>
              <a:t>모든 데이터를 실시간으로 — 즉각적인 비즈니스 인사이트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02920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퍼널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전환율 추적, 이탈 지점 파악, 퍼널 최적화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502920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코호트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사용자 그룹별 리텐션 트렌드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83280"/>
            <a:ext cx="502920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83280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플로우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490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사용자 탐색 패턴 시각화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502920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06240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51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이벤트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커스텀 이벤트 실시간 트래킹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29200"/>
            <a:ext cx="502920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029200"/>
            <a:ext cx="45720" cy="7132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74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피벗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9496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다차원 데이터 분석 및 리포팅</a:t>
            </a:r>
          </a:p>
        </p:txBody>
      </p:sp>
      <p:pic>
        <p:nvPicPr>
          <p:cNvPr id="27" name="Picture 26" descr="screenshot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554480"/>
            <a:ext cx="5943600" cy="4572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43600" y="61264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C758D"/>
                </a:solidFill>
                <a:latin typeface="Malgun Gothic"/>
              </a:rPr>
              <a:t>CleverTap Analytics 대시보드 화면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06  사용자 세그멘테이션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8AFF"/>
                </a:solidFill>
                <a:latin typeface="Malgun Gothic"/>
              </a:rPr>
              <a:t>정밀한 타겟팅으로 관련성 높은 경험 제공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560320" cy="16459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560320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정적 세그먼트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고정된 기준으로 사용자 그룹화
예: 연령대별, 지역별, 가입일별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737360"/>
            <a:ext cx="2560320" cy="16459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37360"/>
            <a:ext cx="2560320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874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동적 세그먼트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2860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실시간 행동에 따라 자동 업데이트
예: 최근 7일 미접속자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66160"/>
            <a:ext cx="2560320" cy="16459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566160"/>
            <a:ext cx="2560320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03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RFM 세그먼트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Recency·Frequency·Monetary 기반
고가치 사용자 자동 식별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566160"/>
            <a:ext cx="2560320" cy="16459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0" y="3566160"/>
            <a:ext cx="2560320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3703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예측 세그먼트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1148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ML로 이탈 가능성, 구매 의향
사전 예측 및 선제적 대응</a:t>
            </a:r>
          </a:p>
        </p:txBody>
      </p:sp>
      <p:pic>
        <p:nvPicPr>
          <p:cNvPr id="23" name="Picture 22" descr="screenshot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669280" cy="46634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17920" y="62179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C758D"/>
                </a:solidFill>
                <a:latin typeface="Malgun Gothic"/>
              </a:rPr>
              <a:t>CleverTap 세그멘테이션 화면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07  멀티채널 인게이지먼트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8AFF"/>
                </a:solidFill>
                <a:latin typeface="Malgun Gothic"/>
              </a:rPr>
              <a:t>고객이 있는 모든 채널에서 일관된 경험 제공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286000" cy="201168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286000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Malgun Gothic"/>
              </a:rPr>
              <a:t>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푸시 알림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iOS/Android
리치 푸시, 딥링크
세그먼트 타겟팅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1737360"/>
            <a:ext cx="2286000" cy="201168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3240" y="1737360"/>
            <a:ext cx="2286000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874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Malgun Gothic"/>
              </a:rPr>
              <a:t>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4688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이메일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803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드래그&amp;드롭 에디터
AMP 이메일 지원
자동화 트리거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1737360"/>
            <a:ext cx="2286000" cy="201168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77840" y="1737360"/>
            <a:ext cx="2286000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1874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Malgun Gothic"/>
              </a:rPr>
              <a:t>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24688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SMS/MMS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28803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글로벌 통신사 연동
개인화 메시지
전환 추적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23360"/>
            <a:ext cx="2286000" cy="201168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023360"/>
            <a:ext cx="2286000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Malgun Gothic"/>
              </a:rPr>
              <a:t>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7548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인앱 메시지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1663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풀스크린/배너/팝업
실시간 노출 조건
인터랙티브 CTA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4023360"/>
            <a:ext cx="2286000" cy="201168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63240" y="4023360"/>
            <a:ext cx="2286000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Malgun Gothic"/>
              </a:rPr>
              <a:t>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7548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웹 푸시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1663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브라우저 알림
세션 외 재참여
퍼미션 관리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4023360"/>
            <a:ext cx="2286000" cy="201168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77840" y="4023360"/>
            <a:ext cx="2286000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0" y="4160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Malgun Gothic"/>
              </a:rPr>
              <a:t>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475488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WhatsApp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51663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공식 비즈니스 API
템플릿 메시지
챗봇 연동</a:t>
            </a:r>
          </a:p>
        </p:txBody>
      </p:sp>
      <p:pic>
        <p:nvPicPr>
          <p:cNvPr id="37" name="Picture 36" descr="screenshot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645920"/>
            <a:ext cx="3657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08  AI/ML 기반 개인화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8AFF"/>
                </a:solidFill>
                <a:latin typeface="Malgun Gothic"/>
              </a:rPr>
              <a:t>머신러닝으로 구현하는 1:1 초개인화 마케팅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029200" cy="12801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4864" cy="128016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🤖 Clever.AI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CleverTap 독자 AI 엔진
고객 행동을 학습하고 예측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737360"/>
            <a:ext cx="5029200" cy="12801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737360"/>
            <a:ext cx="54864" cy="128016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⏰ 최적 전송 시간 (STO)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2860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각 사용자별 최적 수신 시간 자동 선택
오픈율 평균 47% 향상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00400"/>
            <a:ext cx="5029200" cy="12801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54864" cy="128016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91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🎯 예측 세그먼트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490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이탈 예측, 구매 예측, 구독 해지 예측
LTV 기반 자동 분류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200400"/>
            <a:ext cx="5029200" cy="12801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3200400"/>
            <a:ext cx="54864" cy="128016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291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💡 동적 콘텐츠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7490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개인 프로필 기반 실시간 콘텐츠 변환
제품 추천 자동화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663440"/>
            <a:ext cx="5029200" cy="12801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663440"/>
            <a:ext cx="54864" cy="128016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📈 자동 최적화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12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A/B 테스트 자동 승자 선택
트래픽 동적 배분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4663440"/>
            <a:ext cx="5029200" cy="128016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4663440"/>
            <a:ext cx="54864" cy="128016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754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🔮 이탈 방지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212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이탈 위험 사용자 선제 감지
재참여 캠페인 자동 트리거</a:t>
            </a:r>
          </a:p>
        </p:txBody>
      </p:sp>
      <p:pic>
        <p:nvPicPr>
          <p:cNvPr id="31" name="Picture 30" descr="screenshot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4572000"/>
            <a:ext cx="52120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09  A/B 테스트 &amp;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8AFF"/>
                </a:solidFill>
                <a:latin typeface="Malgun Gothic"/>
              </a:rPr>
              <a:t>데이터 기반 의사결정으로 마케팅 성과 극대화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743200" cy="155448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7432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메시지 A/B 테스트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제목, 본문, CTA 버튼
이미지, 이모지 테스트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737360"/>
            <a:ext cx="2743200" cy="155448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737360"/>
            <a:ext cx="27432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874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전송 시간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286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발송 시간대별 성과 비교
요일/시간 최적화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2743200" cy="155448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27432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채널 A/B 테스트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푸시 vs 이메일 vs SMS
채널별 효과 측정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3474720"/>
            <a:ext cx="2743200" cy="155448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3474720"/>
            <a:ext cx="27432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자동 승자 선택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0233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통계적 유의성 기반 자동 선택
트래픽 손실 최소화</a:t>
            </a:r>
          </a:p>
        </p:txBody>
      </p:sp>
      <p:pic>
        <p:nvPicPr>
          <p:cNvPr id="23" name="Picture 22" descr="screenshot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486400" cy="5029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80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C758D"/>
                </a:solidFill>
                <a:latin typeface="Malgun Gothic"/>
              </a:rPr>
              <a:t>CleverTap A/B 테스트 화면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03520"/>
            <a:ext cx="1737360" cy="10972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949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985"/>
                </a:solidFill>
                <a:latin typeface="Malgun Gothic"/>
              </a:rPr>
              <a:t>47%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43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오픈율 향상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5303520"/>
            <a:ext cx="1737360" cy="10972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06040" y="53949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985"/>
                </a:solidFill>
                <a:latin typeface="Malgun Gothic"/>
              </a:rPr>
              <a:t>32%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5943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전환율 개선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59" y="5303520"/>
            <a:ext cx="1737360" cy="10972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1999" y="53949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985"/>
                </a:solidFill>
                <a:latin typeface="Malgun Gothic"/>
              </a:rPr>
              <a:t>2.3배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1999" y="5943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ROI 증가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10  핀테크/금융 업계 활용 사례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8AFF"/>
                </a:solidFill>
                <a:latin typeface="Malgun Gothic"/>
              </a:rPr>
              <a:t>금융 서비스에 최적화된 마케팅 자동화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30352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45720" cy="7132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신규 가입 온보딩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가입 후 7일 온보딩 시나리오
단계별 안내로 첫 거래 유도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530352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45720" cy="7132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KYC 완료 독려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미완료 사용자 자동 리마인드
채널별 순차 발송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83280"/>
            <a:ext cx="530352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83280"/>
            <a:ext cx="45720" cy="7132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투자 상품 추천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490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거래 이력 기반 AI 상품 추천
맞춤형 리스크 등급별 제안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530352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06240"/>
            <a:ext cx="45720" cy="7132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51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이탈 방지 캠페인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30일 미거래 사용자 자동 감지
특별 혜택 오퍼 발송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29200"/>
            <a:ext cx="5303520" cy="713232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029200"/>
            <a:ext cx="45720" cy="7132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74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거래 알림 &amp; 리텐션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949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58D"/>
                </a:solidFill>
                <a:latin typeface="Malgun Gothic"/>
              </a:rPr>
              <a:t>실시간 거래 알림 + 크로스셀
수수료 면제 프로모션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217920"/>
            <a:ext cx="5303520" cy="4572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309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B8AFF"/>
                </a:solidFill>
                <a:latin typeface="Malgun Gothic"/>
              </a:rPr>
              <a:t>PhonePe · Axis Bank · BankBazaar · Groww · 카카오페이(도입 검토중)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737360"/>
            <a:ext cx="2286000" cy="15544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1737360"/>
            <a:ext cx="2286000" cy="54864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0116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985"/>
                </a:solidFill>
                <a:latin typeface="Malgun Gothic"/>
              </a:rPr>
              <a:t>40%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697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4F4F8"/>
                </a:solidFill>
                <a:latin typeface="Malgun Gothic"/>
              </a:rPr>
              <a:t>신규 가입 전환율 향상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1737360"/>
            <a:ext cx="2286000" cy="15544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52560" y="1737360"/>
            <a:ext cx="2286000" cy="54864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20116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985"/>
                </a:solidFill>
                <a:latin typeface="Malgun Gothic"/>
              </a:rPr>
              <a:t>28%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697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4F4F8"/>
                </a:solidFill>
                <a:latin typeface="Malgun Gothic"/>
              </a:rPr>
              <a:t>KYC 완료율 증가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566160"/>
            <a:ext cx="2286000" cy="15544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3566160"/>
            <a:ext cx="2286000" cy="54864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840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985"/>
                </a:solidFill>
                <a:latin typeface="Malgun Gothic"/>
              </a:rPr>
              <a:t>3.2배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526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4F4F8"/>
                </a:solidFill>
                <a:latin typeface="Malgun Gothic"/>
              </a:rPr>
              <a:t>온보딩 캠페인 ROI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60" y="3566160"/>
            <a:ext cx="2286000" cy="155448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52560" y="3566160"/>
            <a:ext cx="2286000" cy="54864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38404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985"/>
                </a:solidFill>
                <a:latin typeface="Malgun Gothic"/>
              </a:rPr>
              <a:t>65%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526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4F4F8"/>
                </a:solidFill>
                <a:latin typeface="Malgun Gothic"/>
              </a:rPr>
              <a:t>이탈 방지 성공률</a:t>
            </a:r>
          </a:p>
        </p:txBody>
      </p:sp>
      <p:pic>
        <p:nvPicPr>
          <p:cNvPr id="45" name="Picture 44" descr="screenshot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120640"/>
            <a:ext cx="530352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11  도입 효과 &amp;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8AFF"/>
                </a:solidFill>
                <a:latin typeface="Malgun Gothic"/>
              </a:rPr>
              <a:t>측정된 성과 — 실제 고객사 기준 평균 수치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474720" cy="18288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474720" cy="54864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C985"/>
                </a:solidFill>
                <a:latin typeface="Malgun Gothic"/>
              </a:rPr>
              <a:t>43%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리텐션율 향상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358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이탈 방지 캠페인 적용 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737360"/>
            <a:ext cx="3474720" cy="18288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474720" cy="54864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C985"/>
                </a:solidFill>
                <a:latin typeface="Malgun Gothic"/>
              </a:rPr>
              <a:t>2.8배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마케팅 ROI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0358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전통 채널 대비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737360"/>
            <a:ext cx="3474720" cy="18288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737360"/>
            <a:ext cx="3474720" cy="54864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C985"/>
                </a:solidFill>
                <a:latin typeface="Malgun Gothic"/>
              </a:rPr>
              <a:t>62%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인게이지먼트 증가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0358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개인화 메시지 적용 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40479"/>
            <a:ext cx="3474720" cy="18288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840479"/>
            <a:ext cx="3474720" cy="54864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02335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C985"/>
                </a:solidFill>
                <a:latin typeface="Malgun Gothic"/>
              </a:rPr>
              <a:t>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7548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마케팅 비용 절감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13892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자동화로 운영 효율 개선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3840479"/>
            <a:ext cx="3474720" cy="18288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840479"/>
            <a:ext cx="3474720" cy="54864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402335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C985"/>
                </a:solidFill>
                <a:latin typeface="Malgun Gothic"/>
              </a:rPr>
              <a:t>5배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7548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캠페인 실행 속도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13892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수동 대비 자동화 효과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840479"/>
            <a:ext cx="3474720" cy="18288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840479"/>
            <a:ext cx="3474720" cy="54864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402335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C985"/>
                </a:solidFill>
                <a:latin typeface="Malgun Gothic"/>
              </a:rPr>
              <a:t>93%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7548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고객 만족도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513892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C758D"/>
                </a:solidFill>
                <a:latin typeface="Malgun Gothic"/>
              </a:rPr>
              <a:t>NPS 기준 CleverTap 도입사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12  도입 프로세스 &amp; 타임라인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8AFF"/>
                </a:solidFill>
                <a:latin typeface="Malgun Gothic"/>
              </a:rPr>
              <a:t>빠르고 안전한 구축 — 평균 4주 내 라이브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926080"/>
            <a:ext cx="10058400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2743200"/>
            <a:ext cx="411480" cy="411480"/>
          </a:xfrm>
          <a:prstGeom prst="ellipse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B8AFF"/>
                </a:solidFill>
                <a:latin typeface="Malgun Gothic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킥오프 &amp; 설계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468880"/>
            <a:ext cx="2286000" cy="320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663440"/>
            <a:ext cx="2377440" cy="16459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요구사항 정의
SDK 통합 계획
이벤트 텍소노미 설계</a:t>
            </a:r>
          </a:p>
        </p:txBody>
      </p:sp>
      <p:sp>
        <p:nvSpPr>
          <p:cNvPr id="14" name="Oval 13"/>
          <p:cNvSpPr/>
          <p:nvPr/>
        </p:nvSpPr>
        <p:spPr>
          <a:xfrm>
            <a:off x="4206240" y="2743200"/>
            <a:ext cx="411480" cy="411480"/>
          </a:xfrm>
          <a:prstGeom prst="ellipse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B8AFF"/>
                </a:solidFill>
                <a:latin typeface="Malgun Gothic"/>
              </a:rPr>
              <a:t>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SDK 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4663440"/>
            <a:ext cx="2377440" cy="16459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47548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iOS/Android SDK 설치
이벤트 태깅
데이터 검증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2743200"/>
            <a:ext cx="411480" cy="411480"/>
          </a:xfrm>
          <a:prstGeom prst="ellipse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B8AFF"/>
                </a:solidFill>
                <a:latin typeface="Malgun Gothic"/>
              </a:rPr>
              <a:t>Week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캠페인 구성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468880"/>
            <a:ext cx="2286000" cy="32004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663440"/>
            <a:ext cx="2377440" cy="16459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47548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세그멘테이션 설정
캠페인 템플릿 구성
A/B 테스트 설계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0" y="2743200"/>
            <a:ext cx="411480" cy="411480"/>
          </a:xfrm>
          <a:prstGeom prst="ellipse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B8AFF"/>
                </a:solidFill>
                <a:latin typeface="Malgun Gothic"/>
              </a:rPr>
              <a:t>Week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라이브 &amp; 최적화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4663440"/>
            <a:ext cx="2377440" cy="16459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47548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F4F8"/>
                </a:solidFill>
                <a:latin typeface="Malgun Gothic"/>
              </a:rPr>
              <a:t>첫 캠페인 발송
성과 모니터링
피드백 반영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algun Gothic"/>
              </a:rPr>
              <a:t>✅  전담 CSM 배정  |  한국어 기술 지원  |  24/7 모니터링  |  전용 온보딩 플레이북 제공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13  가격 정책 &amp; 다음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B8AFF"/>
                </a:solidFill>
                <a:latin typeface="Malgun Gothic"/>
              </a:rPr>
              <a:t>비즈니스 규모에 맞는 유연한 플랜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291840" cy="43891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Essentials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스타트업 &amp; 성장기
월간 MAU 50만 이하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54680"/>
            <a:ext cx="3108960" cy="27432"/>
          </a:xfrm>
          <a:prstGeom prst="rect">
            <a:avLst/>
          </a:prstGeom>
          <a:solidFill>
            <a:srgbClr val="9B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핵심 분석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푸시 + 이메일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기본 세그멘테이션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00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이메일 지원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737360"/>
            <a:ext cx="3291840" cy="438912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1737360"/>
            <a:ext cx="3291840" cy="347472"/>
          </a:xfrm>
          <a:prstGeom prst="rect">
            <a:avLst/>
          </a:prstGeom>
          <a:solidFill>
            <a:srgbClr val="3D1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7556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추천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Advanced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6060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Mid-Market
월간 MAU 500만 이하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154680"/>
            <a:ext cx="3108960" cy="27432"/>
          </a:xfrm>
          <a:prstGeom prst="rect">
            <a:avLst/>
          </a:prstGeom>
          <a:solidFill>
            <a:srgbClr val="9B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3291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Essentials 전체 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794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AI 예측 세그먼트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2976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멀티채널 전체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800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전담 CSM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1737360"/>
            <a:ext cx="3291840" cy="438912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Enterprise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6060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4F8"/>
                </a:solidFill>
                <a:latin typeface="Malgun Gothic"/>
              </a:rPr>
              <a:t>대기업 &amp; 금융기관
MAU 무제한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154680"/>
            <a:ext cx="3108960" cy="27432"/>
          </a:xfrm>
          <a:prstGeom prst="rect">
            <a:avLst/>
          </a:prstGeom>
          <a:solidFill>
            <a:srgbClr val="9B8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3291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Advanced 전체 포함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794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커스텀 SLA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온프레미스 옵션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800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algun Gothic"/>
              </a:rPr>
              <a:t>✓  전용 인프라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B8AFF"/>
                </a:solidFill>
                <a:latin typeface="Malgun Gothic"/>
              </a:rPr>
              <a:t>다음 단계 (Next Steps)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83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① POC 범위 확정  →  ② 무료 파일럿 세션 예약 (2주)  →  ③ 맞춤 견적 제안  →  ④ 계약 및 온보딩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144000" cy="41148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144000" cy="7315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algun Gothic"/>
              </a:rPr>
              <a:t>지금 바로 시작하세요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51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9B8AFF"/>
                </a:solidFill>
                <a:latin typeface="Malgun Gothic"/>
              </a:rPr>
              <a:t>2주 무료 파일럿 프로그램 신청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4F4F8"/>
                </a:solidFill>
                <a:latin typeface="Malgun Gothic"/>
              </a:rPr>
              <a:t>실제 데이터로 CleverTap의 가치를 직접 확인하세요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931920"/>
            <a:ext cx="3657600" cy="64008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397763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데모 신청하기 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C758D"/>
                </a:solidFill>
                <a:latin typeface="Malgun Gothic"/>
              </a:rPr>
              <a:t>웹사이트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6035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B8AFF"/>
                </a:solidFill>
                <a:latin typeface="Malgun Gothic"/>
              </a:rPr>
              <a:t>clevertap.com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C758D"/>
                </a:solidFill>
                <a:latin typeface="Malgun Gothic"/>
              </a:rPr>
              <a:t>이메일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6035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B8AFF"/>
                </a:solidFill>
                <a:latin typeface="Malgun Gothic"/>
              </a:rPr>
              <a:t>korea@clevertap.com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C758D"/>
                </a:solidFill>
                <a:latin typeface="Malgun Gothic"/>
              </a:rPr>
              <a:t>전화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6035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B8AFF"/>
                </a:solidFill>
                <a:latin typeface="Malgun Gothic"/>
              </a:rPr>
              <a:t>+82-2-XXXX-XXXX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82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Malgun Gothic"/>
              </a:rPr>
              <a:t>CleverTap</a:t>
            </a:r>
          </a:p>
        </p:txBody>
      </p:sp>
      <p:pic>
        <p:nvPicPr>
          <p:cNvPr id="18" name="Picture 17" descr="viewport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41148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371600" y="1371600"/>
            <a:ext cx="9144000" cy="4114800"/>
          </a:xfrm>
          <a:prstGeom prst="rect">
            <a:avLst/>
          </a:prstGeom>
          <a:solidFill>
            <a:srgbClr val="2D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1828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algun Gothic"/>
              </a:rPr>
              <a:t>지금 바로 시작하세요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651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9B8AFF"/>
                </a:solidFill>
                <a:latin typeface="Malgun Gothic"/>
              </a:rPr>
              <a:t>2주 무료 파일럿 프로그램 신청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4F4F8"/>
                </a:solidFill>
                <a:latin typeface="Malgun Gothic"/>
              </a:rPr>
              <a:t>실제 데이터로 CleverTap의 가치를 직접 확인하세요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3931920"/>
            <a:ext cx="3657600" cy="64008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397763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데모 신청하기  -&gt;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