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0" y="0"/>
            <a:ext cx="4416552" cy="6858000"/>
          </a:xfrm>
          <a:prstGeom prst="rect">
            <a:avLst/>
          </a:prstGeom>
          <a:solidFill>
            <a:srgbClr val="E55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0" y="0"/>
            <a:ext cx="1828800" cy="685800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tx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457200"/>
            <a:ext cx="4114800" cy="59436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57200" y="457200"/>
            <a:ext cx="73152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720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6B35"/>
                </a:solidFill>
                <a:latin typeface="Malgun Gothic"/>
              </a:rPr>
              <a:t>CleverTap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554480"/>
            <a:ext cx="6858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 i="0">
                <a:solidFill>
                  <a:srgbClr val="FFFFFF"/>
                </a:solidFill>
                <a:latin typeface="Malgun Gothic"/>
              </a:rPr>
              <a:t>고객 평생 가치를
극대화하는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6858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6B35"/>
                </a:solidFill>
                <a:latin typeface="Malgun Gothic"/>
              </a:rPr>
              <a:t>All-in-One
모바일 마케팅 플랫폼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61772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8C95B0"/>
                </a:solidFill>
                <a:latin typeface="Malgun Gothic"/>
              </a:rPr>
              <a:t>한국 기업 CRM/마케팅 담당자를 위한
CleverTap 서비스 제안서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760720"/>
            <a:ext cx="12188952" cy="822960"/>
          </a:xfrm>
          <a:prstGeom prst="rect">
            <a:avLst/>
          </a:prstGeom>
          <a:solidFill>
            <a:srgbClr val="2A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760720"/>
            <a:ext cx="1218895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58338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6B35"/>
                </a:solidFill>
                <a:latin typeface="Malgun Gothic"/>
              </a:rPr>
              <a:t>10,000+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62453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C95B0"/>
                </a:solidFill>
                <a:latin typeface="Malgun Gothic"/>
              </a:rPr>
              <a:t>글로벌 고객사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58338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6B35"/>
                </a:solidFill>
                <a:latin typeface="Malgun Gothic"/>
              </a:rPr>
              <a:t>1조+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62453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C95B0"/>
                </a:solidFill>
                <a:latin typeface="Malgun Gothic"/>
              </a:rPr>
              <a:t>이벤트/월 처리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58338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6B35"/>
                </a:solidFill>
                <a:latin typeface="Malgun Gothic"/>
              </a:rPr>
              <a:t>50+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62453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C95B0"/>
                </a:solidFill>
                <a:latin typeface="Malgun Gothic"/>
              </a:rPr>
              <a:t>국가 지원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59" y="583387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6B35"/>
                </a:solidFill>
                <a:latin typeface="Malgun Gothic"/>
              </a:rPr>
              <a:t>2014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59" y="62453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C95B0"/>
                </a:solidFill>
                <a:latin typeface="Malgun Gothic"/>
              </a:rPr>
              <a:t>창립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algun Gothic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C95B0"/>
                </a:solidFill>
                <a:latin typeface="Malgun Gothic"/>
              </a:rPr>
              <a:t>CleverTap 제안서 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8C95B0"/>
                </a:solidFill>
                <a:latin typeface="Malgun Gothic"/>
              </a:rPr>
              <a:t>02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45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6B35"/>
                </a:solidFill>
                <a:latin typeface="Malgun Gothic"/>
              </a:rPr>
              <a:t>CleverTap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C95B0"/>
                </a:solidFill>
                <a:latin typeface="Malgun Gothic"/>
              </a:rPr>
              <a:t>clevertap.com  |  korea@clevertap.com  |  © 2026 CleverTap Inc.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453896"/>
            <a:ext cx="457200" cy="457200"/>
          </a:xfrm>
          <a:prstGeom prst="roundRect">
            <a:avLst>
              <a:gd name="adj" fmla="val 5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4538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4173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F36"/>
                </a:solidFill>
                <a:latin typeface="Malgun Gothic"/>
              </a:rPr>
              <a:t>CleverTap 회사 소개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17647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C95B0"/>
                </a:solidFill>
                <a:latin typeface="Malgun Gothic"/>
              </a:rPr>
              <a:t>글로벌 현황 및 핵심 수치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185416"/>
            <a:ext cx="457200" cy="457200"/>
          </a:xfrm>
          <a:prstGeom prst="roundRect">
            <a:avLst>
              <a:gd name="adj" fmla="val 5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21854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21488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F36"/>
                </a:solidFill>
                <a:latin typeface="Malgun Gothic"/>
              </a:rPr>
              <a:t>한국 시장에서의 필요성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4963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C95B0"/>
                </a:solidFill>
                <a:latin typeface="Malgun Gothic"/>
              </a:rPr>
              <a:t>모바일 마케팅 트렌드 &amp; 과제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2916936"/>
            <a:ext cx="457200" cy="457200"/>
          </a:xfrm>
          <a:prstGeom prst="roundRect">
            <a:avLst>
              <a:gd name="adj" fmla="val 5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91693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28803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F36"/>
                </a:solidFill>
                <a:latin typeface="Malgun Gothic"/>
              </a:rPr>
              <a:t>CleverTap 핵심 기능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32278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C95B0"/>
                </a:solidFill>
                <a:latin typeface="Malgun Gothic"/>
              </a:rPr>
              <a:t>5가지 핵심 기능 개요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648456"/>
            <a:ext cx="457200" cy="457200"/>
          </a:xfrm>
          <a:prstGeom prst="roundRect">
            <a:avLst>
              <a:gd name="adj" fmla="val 5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64845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36118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F36"/>
                </a:solidFill>
                <a:latin typeface="Malgun Gothic"/>
              </a:rPr>
              <a:t>실시간 세그멘테이션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39593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C95B0"/>
                </a:solidFill>
                <a:latin typeface="Malgun Gothic"/>
              </a:rPr>
              <a:t>정밀 타겟팅으로 전환율 향상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379976"/>
            <a:ext cx="457200" cy="457200"/>
          </a:xfrm>
          <a:prstGeom prst="roundRect">
            <a:avLst>
              <a:gd name="adj" fmla="val 5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43799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43434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F36"/>
                </a:solidFill>
                <a:latin typeface="Malgun Gothic"/>
              </a:rPr>
              <a:t>옴니채널 캠페인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46908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C95B0"/>
                </a:solidFill>
                <a:latin typeface="Malgun Gothic"/>
              </a:rPr>
              <a:t>Push · Email · SMS · In-App 통합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5111496"/>
            <a:ext cx="457200" cy="457200"/>
          </a:xfrm>
          <a:prstGeom prst="roundRect">
            <a:avLst>
              <a:gd name="adj" fmla="val 5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51114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50749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F36"/>
                </a:solidFill>
                <a:latin typeface="Malgun Gothic"/>
              </a:rPr>
              <a:t>AI 기반 개인화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54223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C95B0"/>
                </a:solidFill>
                <a:latin typeface="Malgun Gothic"/>
              </a:rPr>
              <a:t>Clever.AI — 예측 분석 &amp; STO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843016"/>
            <a:ext cx="457200" cy="457200"/>
          </a:xfrm>
          <a:prstGeom prst="roundRect">
            <a:avLst>
              <a:gd name="adj" fmla="val 5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8430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58064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F36"/>
                </a:solidFill>
                <a:latin typeface="Malgun Gothic"/>
              </a:rPr>
              <a:t>CleverTap 대시보드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61539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C95B0"/>
                </a:solidFill>
                <a:latin typeface="Malgun Gothic"/>
              </a:rPr>
              <a:t>통합 데이터 분석 &amp; 인사이트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92240" y="1453896"/>
            <a:ext cx="457200" cy="457200"/>
          </a:xfrm>
          <a:prstGeom prst="roundRect">
            <a:avLst>
              <a:gd name="adj" fmla="val 5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92240" y="14538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08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040880" y="14173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F36"/>
                </a:solidFill>
                <a:latin typeface="Malgun Gothic"/>
              </a:rPr>
              <a:t>A/B 테스트 &amp; 분석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17647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C95B0"/>
                </a:solidFill>
                <a:latin typeface="Malgun Gothic"/>
              </a:rPr>
              <a:t>데이터 기반 의사결정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92240" y="2185416"/>
            <a:ext cx="457200" cy="457200"/>
          </a:xfrm>
          <a:prstGeom prst="roundRect">
            <a:avLst>
              <a:gd name="adj" fmla="val 5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218541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09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0" y="21488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F36"/>
                </a:solidFill>
                <a:latin typeface="Malgun Gothic"/>
              </a:rPr>
              <a:t>고객 성공 사례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0" y="24963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C95B0"/>
                </a:solidFill>
                <a:latin typeface="Malgun Gothic"/>
              </a:rPr>
              <a:t>글로벌 &amp; 아시아 레퍼런스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92240" y="2916936"/>
            <a:ext cx="457200" cy="457200"/>
          </a:xfrm>
          <a:prstGeom prst="roundRect">
            <a:avLst>
              <a:gd name="adj" fmla="val 5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92240" y="291693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10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0880" y="28803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F36"/>
                </a:solidFill>
                <a:latin typeface="Malgun Gothic"/>
              </a:rPr>
              <a:t>도입 효과 &amp; ROI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40880" y="32278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C95B0"/>
                </a:solidFill>
                <a:latin typeface="Malgun Gothic"/>
              </a:rPr>
              <a:t>수치로 증명된 임팩트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92240" y="3648456"/>
            <a:ext cx="457200" cy="457200"/>
          </a:xfrm>
          <a:prstGeom prst="roundRect">
            <a:avLst>
              <a:gd name="adj" fmla="val 5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92240" y="364845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11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040880" y="36118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F36"/>
                </a:solidFill>
                <a:latin typeface="Malgun Gothic"/>
              </a:rPr>
              <a:t>요금제 &amp; 도입 절차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40880" y="39593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C95B0"/>
                </a:solidFill>
                <a:latin typeface="Malgun Gothic"/>
              </a:rPr>
              <a:t>유연한 플랜 &amp; 온보딩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92240" y="4379976"/>
            <a:ext cx="457200" cy="457200"/>
          </a:xfrm>
          <a:prstGeom prst="roundRect">
            <a:avLst>
              <a:gd name="adj" fmla="val 5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92240" y="43799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12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40880" y="43434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F36"/>
                </a:solidFill>
                <a:latin typeface="Malgun Gothic"/>
              </a:rPr>
              <a:t>Why CleverTap?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40880" y="46908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C95B0"/>
                </a:solidFill>
                <a:latin typeface="Malgun Gothic"/>
              </a:rPr>
              <a:t>경쟁사 대비 차별화 강점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492240" y="5111496"/>
            <a:ext cx="457200" cy="457200"/>
          </a:xfrm>
          <a:prstGeom prst="roundRect">
            <a:avLst>
              <a:gd name="adj" fmla="val 5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92240" y="51114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13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040880" y="50749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1F36"/>
                </a:solidFill>
                <a:latin typeface="Malgun Gothic"/>
              </a:rPr>
              <a:t>CTA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040880" y="54223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C95B0"/>
                </a:solidFill>
                <a:latin typeface="Malgun Gothic"/>
              </a:rPr>
              <a:t>지금 바로 시작하세요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algun Gothic"/>
              </a:rPr>
              <a:t>CleverTap 회사 소개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C95B0"/>
                </a:solidFill>
                <a:latin typeface="Malgun Gothic"/>
              </a:rPr>
              <a:t>고객 평생 가치를 높이는 글로벌 1위 올인원 플랫폼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8C95B0"/>
                </a:solidFill>
                <a:latin typeface="Malgun Gothic"/>
              </a:rPr>
              <a:t>03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45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6B35"/>
                </a:solidFill>
                <a:latin typeface="Malgun Gothic"/>
              </a:rPr>
              <a:t>CleverTap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C95B0"/>
                </a:solidFill>
                <a:latin typeface="Malgun Gothic"/>
              </a:rPr>
              <a:t>clevertap.com  |  korea@clevertap.com  |  © 2026 CleverTap Inc.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371600"/>
            <a:ext cx="3657600" cy="5029200"/>
          </a:xfrm>
          <a:prstGeom prst="rect">
            <a:avLst/>
          </a:prstGeom>
          <a:solidFill>
            <a:srgbClr val="25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3716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6B35"/>
                </a:solidFill>
                <a:latin typeface="Malgun Gothic"/>
              </a:rPr>
              <a:t>CleverTap은 무엇인가?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084831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Malgun Gothic"/>
              </a:rPr>
              <a:t>CleverTap은 2014년 설립된 글로벌 All-in-One 고객 인게이지먼트 플랫폼으로,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468879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C95B0"/>
                </a:solidFill>
                <a:latin typeface="Malgun Gothic"/>
              </a:rPr>
              <a:t>기업이 고객 데이터를 수집 · 분석 · 활용하여 개인화된 경험을 제공하고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852927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C95B0"/>
                </a:solidFill>
                <a:latin typeface="Malgun Gothic"/>
              </a:rPr>
              <a:t>고객 유지율(Retention)과 평생 가치(LTV)를 극대화할 수 있도록 지원합니다.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57600"/>
            <a:ext cx="2560320" cy="1645920"/>
          </a:xfrm>
          <a:prstGeom prst="roundRect">
            <a:avLst>
              <a:gd name="adj" fmla="val 5000"/>
            </a:avLst>
          </a:prstGeom>
          <a:solidFill>
            <a:srgbClr val="2A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657600"/>
            <a:ext cx="73152" cy="1645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7490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6B35"/>
                </a:solidFill>
                <a:latin typeface="Malgun Gothic"/>
              </a:rPr>
              <a:t>10,000+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37083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글로벌 고객사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7731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C95B0"/>
                </a:solidFill>
                <a:latin typeface="Malgun Gothic"/>
              </a:rPr>
              <a:t>50개국 이상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3657600"/>
            <a:ext cx="2560320" cy="1645920"/>
          </a:xfrm>
          <a:prstGeom prst="roundRect">
            <a:avLst>
              <a:gd name="adj" fmla="val 5000"/>
            </a:avLst>
          </a:prstGeom>
          <a:solidFill>
            <a:srgbClr val="2A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91840" y="3657600"/>
            <a:ext cx="73152" cy="1645920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37490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C985"/>
                </a:solidFill>
                <a:latin typeface="Malgun Gothic"/>
              </a:rPr>
              <a:t>1조+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437083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월 처리 이벤트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47731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C95B0"/>
                </a:solidFill>
                <a:latin typeface="Malgun Gothic"/>
              </a:rPr>
              <a:t>초당 수백만 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26480" y="3657600"/>
            <a:ext cx="2560320" cy="1645920"/>
          </a:xfrm>
          <a:prstGeom prst="roundRect">
            <a:avLst>
              <a:gd name="adj" fmla="val 5000"/>
            </a:avLst>
          </a:prstGeom>
          <a:solidFill>
            <a:srgbClr val="2A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6480" y="3657600"/>
            <a:ext cx="73152" cy="16459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7490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6C63FF"/>
                </a:solidFill>
                <a:latin typeface="Malgun Gothic"/>
              </a:rPr>
              <a:t>95%+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37083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고객 유지율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7731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C95B0"/>
                </a:solidFill>
                <a:latin typeface="Malgun Gothic"/>
              </a:rPr>
              <a:t>업계 최고 수준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61120" y="3657600"/>
            <a:ext cx="2560320" cy="1645920"/>
          </a:xfrm>
          <a:prstGeom prst="roundRect">
            <a:avLst>
              <a:gd name="adj" fmla="val 5000"/>
            </a:avLst>
          </a:prstGeom>
          <a:solidFill>
            <a:srgbClr val="2A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61120" y="3657600"/>
            <a:ext cx="73152" cy="1645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0" y="3749040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6B35"/>
                </a:solidFill>
                <a:latin typeface="Malgun Gothic"/>
              </a:rPr>
              <a:t>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4370832"/>
            <a:ext cx="2286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Gartner 리더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4773168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C95B0"/>
                </a:solidFill>
                <a:latin typeface="Malgun Gothic"/>
              </a:rPr>
              <a:t>개인화 엔진 부문</a:t>
            </a:r>
          </a:p>
        </p:txBody>
      </p:sp>
      <p:pic>
        <p:nvPicPr>
          <p:cNvPr id="36" name="Picture 35" descr="ctx_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0" y="1463040"/>
            <a:ext cx="32004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algun Gothic"/>
              </a:rPr>
              <a:t>한국 시장에서의 필요성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C95B0"/>
                </a:solidFill>
                <a:latin typeface="Malgun Gothic"/>
              </a:rPr>
              <a:t>모바일 퍼스트 시대, 개인화 마케팅이 답입니다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8C95B0"/>
                </a:solidFill>
                <a:latin typeface="Malgun Gothic"/>
              </a:rPr>
              <a:t>04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45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6B35"/>
                </a:solidFill>
                <a:latin typeface="Malgun Gothic"/>
              </a:rPr>
              <a:t>CleverTap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C95B0"/>
                </a:solidFill>
                <a:latin typeface="Malgun Gothic"/>
              </a:rPr>
              <a:t>clevertap.com  |  korea@clevertap.com  |  © 2026 CleverTap Inc.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371600"/>
            <a:ext cx="5486400" cy="502920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371600"/>
            <a:ext cx="548640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4630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6B35"/>
                </a:solidFill>
                <a:latin typeface="Malgun Gothic"/>
              </a:rPr>
              <a:t>한국 마케터가 직면한 과제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14884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latin typeface="Malgun Gothic"/>
              </a:rPr>
              <a:t>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216712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algun Gothic"/>
              </a:rPr>
              <a:t>앱 이탈률 급증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49631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C95B0"/>
                </a:solidFill>
                <a:latin typeface="Malgun Gothic"/>
              </a:rPr>
              <a:t>신규 설치 후 30일 내 75% 이탈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92608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latin typeface="Malgun Gothic"/>
              </a:rPr>
              <a:t>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294436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algun Gothic"/>
              </a:rPr>
              <a:t>채널 분산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27355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C95B0"/>
                </a:solidFill>
                <a:latin typeface="Malgun Gothic"/>
              </a:rPr>
              <a:t>Push·Email·SMS 각각 개별 운영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7033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latin typeface="Malgun Gothic"/>
              </a:rPr>
              <a:t>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7216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algun Gothic"/>
              </a:rPr>
              <a:t>데이터 사일로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05079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C95B0"/>
                </a:solidFill>
                <a:latin typeface="Malgun Gothic"/>
              </a:rPr>
              <a:t>고객 데이터 통합 분석 불가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448056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latin typeface="Malgun Gothic"/>
              </a:rPr>
              <a:t>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49884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algun Gothic"/>
              </a:rPr>
              <a:t>분석 지연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82803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C95B0"/>
                </a:solidFill>
                <a:latin typeface="Malgun Gothic"/>
              </a:rPr>
              <a:t>실시간 인사이트 부재로 의사결정 지연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25780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latin typeface="Malgun Gothic"/>
              </a:rPr>
              <a:t>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27608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algun Gothic"/>
              </a:rPr>
              <a:t>개인화 부족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560527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C95B0"/>
                </a:solidFill>
                <a:latin typeface="Malgun Gothic"/>
              </a:rPr>
              <a:t>일괄 발송으로 고객 이탈 가속화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17920" y="1371600"/>
            <a:ext cx="5486400" cy="45720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14630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A1F36"/>
                </a:solidFill>
                <a:latin typeface="Malgun Gothic"/>
              </a:rPr>
              <a:t>한국 모바일 시장 현황 (2025)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0" y="2148840"/>
            <a:ext cx="5029200" cy="82296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2148840"/>
            <a:ext cx="64008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21945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6B35"/>
                </a:solidFill>
                <a:latin typeface="Malgun Gothic"/>
              </a:rPr>
              <a:t>5,200만+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3920" y="231343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F36"/>
                </a:solidFill>
                <a:latin typeface="Malgun Gothic"/>
              </a:rPr>
              <a:t>스마트폰 사용자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3154680"/>
            <a:ext cx="5029200" cy="82296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3154680"/>
            <a:ext cx="64008" cy="822960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83680" y="3200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C985"/>
                </a:solidFill>
                <a:latin typeface="Malgun Gothic"/>
              </a:rPr>
              <a:t>87%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03920" y="331927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F36"/>
                </a:solidFill>
                <a:latin typeface="Malgun Gothic"/>
              </a:rPr>
              <a:t>앱으로 쇼핑 경험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00800" y="4160520"/>
            <a:ext cx="5029200" cy="82296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0" y="4160520"/>
            <a:ext cx="64008" cy="8229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0" y="4206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6C63FF"/>
                </a:solidFill>
                <a:latin typeface="Malgun Gothic"/>
              </a:rPr>
              <a:t>3배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0" y="432511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F36"/>
                </a:solidFill>
                <a:latin typeface="Malgun Gothic"/>
              </a:rPr>
              <a:t>개인화 마케팅 ROI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5166360"/>
            <a:ext cx="5029200" cy="82296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00800" y="5166360"/>
            <a:ext cx="64008" cy="8229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0" y="52120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6B35"/>
                </a:solidFill>
                <a:latin typeface="Malgun Gothic"/>
              </a:rPr>
              <a:t>68%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533095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1A1F36"/>
                </a:solidFill>
                <a:latin typeface="Malgun Gothic"/>
              </a:rPr>
              <a:t>Push 수신 후 재방문율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88952" cy="9144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Malgun Gothic"/>
              </a:rPr>
              <a:t>CleverTap
핵심 기능 5가지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1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C95B0"/>
                </a:solidFill>
                <a:latin typeface="Malgun Gothic"/>
              </a:rPr>
              <a:t>하나의 플랫폼에서 데이터 수집 · 분석 · 세그멘테이션 · 캠페인 · AI 자동화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14800"/>
            <a:ext cx="1920240" cy="1554480"/>
          </a:xfrm>
          <a:prstGeom prst="roundRect">
            <a:avLst>
              <a:gd name="adj" fmla="val 5000"/>
            </a:avLst>
          </a:prstGeom>
          <a:solidFill>
            <a:srgbClr val="2A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4114800"/>
            <a:ext cx="192024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1605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latin typeface="Malgun Gothic"/>
              </a:rPr>
              <a:t>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7548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실시간 분석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4114800"/>
            <a:ext cx="1920240" cy="1554480"/>
          </a:xfrm>
          <a:prstGeom prst="roundRect">
            <a:avLst>
              <a:gd name="adj" fmla="val 5000"/>
            </a:avLst>
          </a:prstGeom>
          <a:solidFill>
            <a:srgbClr val="2A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08960" y="4114800"/>
            <a:ext cx="192024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41605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latin typeface="Malgun Gothic"/>
              </a:rPr>
              <a:t>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47548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세그멘테이션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4114800"/>
            <a:ext cx="1920240" cy="1554480"/>
          </a:xfrm>
          <a:prstGeom prst="roundRect">
            <a:avLst>
              <a:gd name="adj" fmla="val 5000"/>
            </a:avLst>
          </a:prstGeom>
          <a:solidFill>
            <a:srgbClr val="2A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03520" y="4114800"/>
            <a:ext cx="192024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4960" y="41605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latin typeface="Malgun Gothic"/>
              </a:rPr>
              <a:t>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47548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옴니채널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4114800"/>
            <a:ext cx="1920240" cy="1554480"/>
          </a:xfrm>
          <a:prstGeom prst="roundRect">
            <a:avLst>
              <a:gd name="adj" fmla="val 5000"/>
            </a:avLst>
          </a:prstGeom>
          <a:solidFill>
            <a:srgbClr val="2A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79" y="4114800"/>
            <a:ext cx="192024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19" y="41605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latin typeface="Malgun Gothic"/>
              </a:rPr>
              <a:t>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43799" y="47548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AI 개인화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92640" y="4114800"/>
            <a:ext cx="1920240" cy="1554480"/>
          </a:xfrm>
          <a:prstGeom prst="roundRect">
            <a:avLst>
              <a:gd name="adj" fmla="val 5000"/>
            </a:avLst>
          </a:prstGeom>
          <a:solidFill>
            <a:srgbClr val="2A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92640" y="4114800"/>
            <a:ext cx="1920240" cy="457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0" y="4160520"/>
            <a:ext cx="1737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latin typeface="Malgun Gothic"/>
              </a:rPr>
              <a:t>🧪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47548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A/B 테스트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algun Gothic"/>
              </a:rPr>
              <a:t>실시간 세그멘테이션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C95B0"/>
                </a:solidFill>
                <a:latin typeface="Malgun Gothic"/>
              </a:rPr>
              <a:t>정밀 타겟팅으로 전환율과 리텐션을 동시에 향상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8C95B0"/>
                </a:solidFill>
                <a:latin typeface="Malgun Gothic"/>
              </a:rPr>
              <a:t>06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45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6B35"/>
                </a:solidFill>
                <a:latin typeface="Malgun Gothic"/>
              </a:rPr>
              <a:t>CleverTap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C95B0"/>
                </a:solidFill>
                <a:latin typeface="Malgun Gothic"/>
              </a:rPr>
              <a:t>clevertap.com  |  korea@clevertap.com  |  © 2026 CleverTap Inc.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3716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6B35"/>
                </a:solidFill>
                <a:latin typeface="Malgun Gothic"/>
              </a:rPr>
              <a:t>누구에게, 언제, 무엇을?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103120"/>
            <a:ext cx="54864" cy="6400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07568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algun Gothic"/>
              </a:rPr>
              <a:t>Dynamic Segment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44144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C95B0"/>
                </a:solidFill>
                <a:latin typeface="Malgun Gothic"/>
              </a:rPr>
              <a:t>실시간 행동 기반 세그먼트 자동 업데이트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08960"/>
            <a:ext cx="54864" cy="6400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08152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algun Gothic"/>
              </a:rPr>
              <a:t>RFM 분석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44728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C95B0"/>
                </a:solidFill>
                <a:latin typeface="Malgun Gothic"/>
              </a:rPr>
              <a:t>Recency·Frequency·Monetary 기반 고가치 고객 분류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114800"/>
            <a:ext cx="54864" cy="6400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08736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algun Gothic"/>
              </a:rPr>
              <a:t>Predictive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45312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C95B0"/>
                </a:solidFill>
                <a:latin typeface="Malgun Gothic"/>
              </a:rPr>
              <a:t>이탈 위험 / 구매 의도 AI 예측 세그먼트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120640"/>
            <a:ext cx="54864" cy="64008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09320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algun Gothic"/>
              </a:rPr>
              <a:t>South Korea 필터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458968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C95B0"/>
                </a:solidFill>
                <a:latin typeface="Malgun Gothic"/>
              </a:rPr>
              <a:t>국가·언어·플랜 등 속성 기반 정밀 조합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1325880"/>
            <a:ext cx="5897880" cy="5120640"/>
          </a:xfrm>
          <a:prstGeom prst="rect">
            <a:avLst/>
          </a:prstGeom>
          <a:solidFill>
            <a:srgbClr val="2A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ctx_segmen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417320"/>
            <a:ext cx="571500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algun Gothic"/>
              </a:rPr>
              <a:t>옴니채널 캠페인 자동화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C95B0"/>
                </a:solidFill>
                <a:latin typeface="Malgun Gothic"/>
              </a:rPr>
              <a:t>하나의 대시보드로 모든 채널을 통합 운영하세요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8C95B0"/>
                </a:solidFill>
                <a:latin typeface="Malgun Gothic"/>
              </a:rPr>
              <a:t>07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45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6B35"/>
                </a:solidFill>
                <a:latin typeface="Malgun Gothic"/>
              </a:rPr>
              <a:t>CleverTap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C95B0"/>
                </a:solidFill>
                <a:latin typeface="Malgun Gothic"/>
              </a:rPr>
              <a:t>clevertap.com  |  korea@clevertap.com  |  © 2026 CleverTap Inc.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37160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F36"/>
                </a:solidFill>
                <a:latin typeface="Malgun Gothic"/>
              </a:rPr>
              <a:t>채널별 분산 관리는 이제 그만 — CleverTap 하나로 통합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920240"/>
            <a:ext cx="21488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920240"/>
            <a:ext cx="2148840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99339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latin typeface="Malgun Gothic"/>
              </a:rPr>
              <a:t>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257860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F36"/>
                </a:solidFill>
                <a:latin typeface="Malgun Gothic"/>
              </a:rPr>
              <a:t>Push
Notification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31546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C63FF"/>
                </a:solidFill>
                <a:latin typeface="Malgun Gothic"/>
              </a:rPr>
              <a:t>38.4% 오픈율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06624" y="1920240"/>
            <a:ext cx="21488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706624" y="1920240"/>
            <a:ext cx="214884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98064" y="199339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latin typeface="Malgun Gothic"/>
              </a:rPr>
              <a:t>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52344" y="257860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F36"/>
                </a:solidFill>
                <a:latin typeface="Malgun Gothic"/>
              </a:rPr>
              <a:t>Email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52344" y="31546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6B35"/>
                </a:solidFill>
                <a:latin typeface="Malgun Gothic"/>
              </a:rPr>
              <a:t>41.2% 오픈율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47488" y="1920240"/>
            <a:ext cx="21488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47488" y="1920240"/>
            <a:ext cx="2148840" cy="64008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38928" y="199339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latin typeface="Malgun Gothic"/>
              </a:rPr>
              <a:t>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93208" y="257860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F36"/>
                </a:solidFill>
                <a:latin typeface="Malgun Gothic"/>
              </a:rPr>
              <a:t>In-App
Message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93208" y="31546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985"/>
                </a:solidFill>
                <a:latin typeface="Malgun Gothic"/>
              </a:rPr>
              <a:t>52% 도달율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88352" y="1920240"/>
            <a:ext cx="21488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88352" y="1920240"/>
            <a:ext cx="2148840" cy="64008"/>
          </a:xfrm>
          <a:prstGeom prst="rect">
            <a:avLst/>
          </a:prstGeom>
          <a:solidFill>
            <a:srgbClr val="252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79792" y="199339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latin typeface="Malgun Gothic"/>
              </a:rPr>
              <a:t>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34072" y="257860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F36"/>
                </a:solidFill>
                <a:latin typeface="Malgun Gothic"/>
              </a:rPr>
              <a:t>SMS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34072" y="31546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52D4E"/>
                </a:solidFill>
                <a:latin typeface="Malgun Gothic"/>
              </a:rPr>
              <a:t>높은 즉시성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729216" y="1920240"/>
            <a:ext cx="2148840" cy="17373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729216" y="1920240"/>
            <a:ext cx="2148840" cy="64008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820656" y="1993392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0" i="0">
                <a:latin typeface="Malgun Gothic"/>
              </a:rPr>
              <a:t>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74936" y="2578608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F36"/>
                </a:solidFill>
                <a:latin typeface="Malgun Gothic"/>
              </a:rPr>
              <a:t>WhatsApp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74936" y="31546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0C985"/>
                </a:solidFill>
                <a:latin typeface="Malgun Gothic"/>
              </a:rPr>
              <a:t>비즈니스 API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3749039"/>
            <a:ext cx="11247120" cy="265176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ctx_eng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794760"/>
            <a:ext cx="11064240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algun Gothic"/>
              </a:rPr>
              <a:t>Clever.AI™ — AI 기반 개인화 엔진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C95B0"/>
                </a:solidFill>
                <a:latin typeface="Malgun Gothic"/>
              </a:rPr>
              <a:t>머신러닝으로 모든 고객에게 최적의 경험을 자동 제공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8C95B0"/>
                </a:solidFill>
                <a:latin typeface="Malgun Gothic"/>
              </a:rPr>
              <a:t>08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45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6B35"/>
                </a:solidFill>
                <a:latin typeface="Malgun Gothic"/>
              </a:rPr>
              <a:t>CleverTap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C95B0"/>
                </a:solidFill>
                <a:latin typeface="Malgun Gothic"/>
              </a:rPr>
              <a:t>clevertap.com  |  korea@clevertap.com  |  © 2026 CleverTap Inc.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5486400" cy="1115568"/>
          </a:xfrm>
          <a:prstGeom prst="roundRect">
            <a:avLst>
              <a:gd name="adj" fmla="val 5000"/>
            </a:avLst>
          </a:prstGeom>
          <a:solidFill>
            <a:srgbClr val="2A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64008" cy="111556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5087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Malgun Gothic"/>
              </a:rPr>
              <a:t>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150876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algun Gothic"/>
              </a:rPr>
              <a:t>이탈 예측 (Churn Prediction)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192024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C95B0"/>
                </a:solidFill>
                <a:latin typeface="Malgun Gothic"/>
              </a:rPr>
              <a:t>7일 이내 이탈 위험 고객을 91.3% 정확도로 예측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651760"/>
            <a:ext cx="5486400" cy="1115568"/>
          </a:xfrm>
          <a:prstGeom prst="roundRect">
            <a:avLst>
              <a:gd name="adj" fmla="val 5000"/>
            </a:avLst>
          </a:prstGeom>
          <a:solidFill>
            <a:srgbClr val="2A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651760"/>
            <a:ext cx="64008" cy="111556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74320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Malgun Gothic"/>
              </a:rPr>
              <a:t>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274320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algun Gothic"/>
              </a:rPr>
              <a:t>최적 발송 시간 (STO)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5880" y="315468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C95B0"/>
                </a:solidFill>
                <a:latin typeface="Malgun Gothic"/>
              </a:rPr>
              <a:t>개인별 가장 높은 오픈율 시간대 자동 계산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886200"/>
            <a:ext cx="5486400" cy="1115568"/>
          </a:xfrm>
          <a:prstGeom prst="roundRect">
            <a:avLst>
              <a:gd name="adj" fmla="val 5000"/>
            </a:avLst>
          </a:prstGeom>
          <a:solidFill>
            <a:srgbClr val="2A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886200"/>
            <a:ext cx="64008" cy="111556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Malgun Gothic"/>
              </a:rPr>
              <a:t>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397764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algun Gothic"/>
              </a:rPr>
              <a:t>구매 의도 예측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38912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C95B0"/>
                </a:solidFill>
                <a:latin typeface="Malgun Gothic"/>
              </a:rPr>
              <a:t>다음 구매 가능성 87.6% 정확도 예측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120640"/>
            <a:ext cx="5486400" cy="1115568"/>
          </a:xfrm>
          <a:prstGeom prst="roundRect">
            <a:avLst>
              <a:gd name="adj" fmla="val 5000"/>
            </a:avLst>
          </a:prstGeom>
          <a:solidFill>
            <a:srgbClr val="2A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5120640"/>
            <a:ext cx="64008" cy="111556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2120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Malgun Gothic"/>
              </a:rPr>
              <a:t>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25880" y="5212080"/>
            <a:ext cx="4389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algun Gothic"/>
              </a:rPr>
              <a:t>동적 콘텐츠 개인화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562356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C95B0"/>
                </a:solidFill>
                <a:latin typeface="Malgun Gothic"/>
              </a:rPr>
              <a:t>각 유저에게 맞는 제품·메시지 자동 생성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17920" y="1325880"/>
            <a:ext cx="5806440" cy="5120640"/>
          </a:xfrm>
          <a:prstGeom prst="rect">
            <a:avLst/>
          </a:prstGeom>
          <a:solidFill>
            <a:srgbClr val="2A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ctx_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17320"/>
            <a:ext cx="562356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algun Gothic"/>
              </a:rPr>
              <a:t>통합 Analytics 대시보드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C95B0"/>
                </a:solidFill>
                <a:latin typeface="Malgun Gothic"/>
              </a:rPr>
              <a:t>모든 데이터를 하나의 화면에서 — 실시간 인사이트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8C95B0"/>
                </a:solidFill>
                <a:latin typeface="Malgun Gothic"/>
              </a:rPr>
              <a:t>09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45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6B35"/>
                </a:solidFill>
                <a:latin typeface="Malgun Gothic"/>
              </a:rPr>
              <a:t>CleverTap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C95B0"/>
                </a:solidFill>
                <a:latin typeface="Malgun Gothic"/>
              </a:rPr>
              <a:t>clevertap.com  |  korea@clevertap.com  |  © 2026 CleverTap Inc.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325880"/>
            <a:ext cx="11430000" cy="5074920"/>
          </a:xfrm>
          <a:prstGeom prst="rect">
            <a:avLst/>
          </a:prstGeom>
          <a:solidFill>
            <a:srgbClr val="2A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tx_analyt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493776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731520" y="5989320"/>
            <a:ext cx="2743200" cy="457200"/>
          </a:xfrm>
          <a:prstGeom prst="roundRect">
            <a:avLst>
              <a:gd name="adj" fmla="val 5000"/>
            </a:avLst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5989320"/>
            <a:ext cx="2743200" cy="36576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60167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algun Gothic"/>
              </a:rPr>
              <a:t>2.4M  총 사용자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31920" y="5989320"/>
            <a:ext cx="2743200" cy="457200"/>
          </a:xfrm>
          <a:prstGeom prst="roundRect">
            <a:avLst>
              <a:gd name="adj" fmla="val 5000"/>
            </a:avLst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31920" y="5989320"/>
            <a:ext cx="27432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69080" y="60167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algun Gothic"/>
              </a:rPr>
              <a:t>8.7M  월간 세션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0" y="5989320"/>
            <a:ext cx="2743200" cy="457200"/>
          </a:xfrm>
          <a:prstGeom prst="roundRect">
            <a:avLst>
              <a:gd name="adj" fmla="val 5000"/>
            </a:avLst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0" y="5989320"/>
            <a:ext cx="2743200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9480" y="6016752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Malgun Gothic"/>
              </a:rPr>
              <a:t>42.1%  D7 리텐션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algun Gothic"/>
              </a:rPr>
              <a:t>A/B 테스트 &amp; 실험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C95B0"/>
                </a:solidFill>
                <a:latin typeface="Malgun Gothic"/>
              </a:rPr>
              <a:t>데이터로 증명하고, 최선의 메시지만 발송하세요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8C95B0"/>
                </a:solidFill>
                <a:latin typeface="Malgun Gothic"/>
              </a:rPr>
              <a:t>10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45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6B35"/>
                </a:solidFill>
                <a:latin typeface="Malgun Gothic"/>
              </a:rPr>
              <a:t>CleverTap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C95B0"/>
                </a:solidFill>
                <a:latin typeface="Malgun Gothic"/>
              </a:rPr>
              <a:t>clevertap.com  |  korea@clevertap.com  |  © 2026 CleverTap Inc.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371600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F36"/>
                </a:solidFill>
                <a:latin typeface="Malgun Gothic"/>
              </a:rPr>
              <a:t>무엇이 더 효과적인지 데이터로 알아보세요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011680"/>
            <a:ext cx="5029200" cy="11704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011680"/>
            <a:ext cx="64008" cy="1170432"/>
          </a:xfrm>
          <a:prstGeom prst="rect">
            <a:avLst/>
          </a:prstGeom>
          <a:solidFill>
            <a:srgbClr val="8C95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F36"/>
                </a:solidFill>
                <a:latin typeface="Malgun Gothic"/>
              </a:rPr>
              <a:t>Control (A)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468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C95B0"/>
                </a:solidFill>
                <a:latin typeface="Malgun Gothic"/>
              </a:rPr>
              <a:t>"지금 업그레이드!"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28600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i="0">
                <a:solidFill>
                  <a:srgbClr val="8C95B0"/>
                </a:solidFill>
                <a:latin typeface="Malgun Gothic"/>
              </a:rPr>
              <a:t>18.3% CTR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337560"/>
            <a:ext cx="5029200" cy="11704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337560"/>
            <a:ext cx="64008" cy="11704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429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F36"/>
                </a:solidFill>
                <a:latin typeface="Malgun Gothic"/>
              </a:rPr>
              <a:t>Variant B 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79476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C95B0"/>
                </a:solidFill>
                <a:latin typeface="Malgun Gothic"/>
              </a:rPr>
              <a:t>"오늘 밤 만료됩니다"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61188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i="0">
                <a:solidFill>
                  <a:srgbClr val="6C63FF"/>
                </a:solidFill>
                <a:latin typeface="Malgun Gothic"/>
              </a:rPr>
              <a:t>24.7% CTR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663440"/>
            <a:ext cx="5029200" cy="11704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4663440"/>
            <a:ext cx="64008" cy="1170432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7548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1F36"/>
                </a:solidFill>
                <a:latin typeface="Malgun Gothic"/>
              </a:rPr>
              <a:t>Variant 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5120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C95B0"/>
                </a:solidFill>
                <a:latin typeface="Malgun Gothic"/>
              </a:rPr>
              <a:t>"30% 할인 받기"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937760"/>
            <a:ext cx="1463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400" b="1" i="0">
                <a:solidFill>
                  <a:srgbClr val="00C985"/>
                </a:solidFill>
                <a:latin typeface="Malgun Gothic"/>
              </a:rPr>
              <a:t>21.1% CTR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1325880"/>
            <a:ext cx="6217920" cy="512064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ctx_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417320"/>
            <a:ext cx="6035040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algun Gothic"/>
              </a:rPr>
              <a:t>글로벌 고객 성공 사례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C95B0"/>
                </a:solidFill>
                <a:latin typeface="Malgun Gothic"/>
              </a:rPr>
              <a:t>전세계 10,000+ 기업이 CleverTap을 선택한 이유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8C95B0"/>
                </a:solidFill>
                <a:latin typeface="Malgun Gothic"/>
              </a:rPr>
              <a:t>11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45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6B35"/>
                </a:solidFill>
                <a:latin typeface="Malgun Gothic"/>
              </a:rPr>
              <a:t>CleverTap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C95B0"/>
                </a:solidFill>
                <a:latin typeface="Malgun Gothic"/>
              </a:rPr>
              <a:t>clevertap.com  |  korea@clevertap.com  |  © 2026 CleverTap Inc.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417320"/>
            <a:ext cx="2743200" cy="4937760"/>
          </a:xfrm>
          <a:prstGeom prst="roundRect">
            <a:avLst>
              <a:gd name="adj" fmla="val 5000"/>
            </a:avLst>
          </a:prstGeom>
          <a:solidFill>
            <a:srgbClr val="2A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417320"/>
            <a:ext cx="2743200" cy="54864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536192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</a:rPr>
              <a:t>Gojek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1031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C95B0"/>
                </a:solidFill>
                <a:latin typeface="Malgun Gothic"/>
              </a:rPr>
              <a:t>동남아 최대 슈퍼앱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560320"/>
            <a:ext cx="2377440" cy="36576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7432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algun Gothic"/>
              </a:rPr>
              <a:t>✓  리텐션 +40%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45643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C95B0"/>
                </a:solidFill>
                <a:latin typeface="Malgun Gothic"/>
              </a:rPr>
              <a:t>✓  캠페인 ROI 3배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169664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C95B0"/>
                </a:solidFill>
                <a:latin typeface="Malgun Gothic"/>
              </a:rPr>
              <a:t>✓  이탈률 25% 감소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10128" y="1417320"/>
            <a:ext cx="2743200" cy="4937760"/>
          </a:xfrm>
          <a:prstGeom prst="roundRect">
            <a:avLst>
              <a:gd name="adj" fmla="val 5000"/>
            </a:avLst>
          </a:prstGeom>
          <a:solidFill>
            <a:srgbClr val="2A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310128" y="1417320"/>
            <a:ext cx="274320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47288" y="1536192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</a:rPr>
              <a:t>Jio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47288" y="21031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C95B0"/>
                </a:solidFill>
                <a:latin typeface="Malgun Gothic"/>
              </a:rPr>
              <a:t>인도 1위 통신사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47288" y="2560320"/>
            <a:ext cx="237744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47288" y="27432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algun Gothic"/>
              </a:rPr>
              <a:t>✓  MAU +35%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47288" y="345643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C95B0"/>
                </a:solidFill>
                <a:latin typeface="Malgun Gothic"/>
              </a:rPr>
              <a:t>✓  Push CTR 2.5배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47288" y="4169664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C95B0"/>
                </a:solidFill>
                <a:latin typeface="Malgun Gothic"/>
              </a:rPr>
              <a:t>✓  운영비 60% 절감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54496" y="1417320"/>
            <a:ext cx="2743200" cy="4937760"/>
          </a:xfrm>
          <a:prstGeom prst="roundRect">
            <a:avLst>
              <a:gd name="adj" fmla="val 5000"/>
            </a:avLst>
          </a:prstGeom>
          <a:solidFill>
            <a:srgbClr val="2A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54496" y="1417320"/>
            <a:ext cx="27432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91656" y="1536192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</a:rPr>
              <a:t>Hotstar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91656" y="21031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C95B0"/>
                </a:solidFill>
                <a:latin typeface="Malgun Gothic"/>
              </a:rPr>
              <a:t>아시아 스트리밍 플랫폼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91656" y="2560320"/>
            <a:ext cx="2377440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91656" y="27432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algun Gothic"/>
              </a:rPr>
              <a:t>✓  재구독률 +28%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1656" y="345643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C95B0"/>
                </a:solidFill>
                <a:latin typeface="Malgun Gothic"/>
              </a:rPr>
              <a:t>✓  알림 오픈율 45%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91656" y="4169664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C95B0"/>
                </a:solidFill>
                <a:latin typeface="Malgun Gothic"/>
              </a:rPr>
              <a:t>✓  세그먼트 300+ 운영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98864" y="1417320"/>
            <a:ext cx="2743200" cy="4937760"/>
          </a:xfrm>
          <a:prstGeom prst="roundRect">
            <a:avLst>
              <a:gd name="adj" fmla="val 5000"/>
            </a:avLst>
          </a:prstGeom>
          <a:solidFill>
            <a:srgbClr val="2A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98864" y="1417320"/>
            <a:ext cx="2743200" cy="54864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36024" y="1536192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algun Gothic"/>
              </a:rPr>
              <a:t>PhonePe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36024" y="210312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C95B0"/>
                </a:solidFill>
                <a:latin typeface="Malgun Gothic"/>
              </a:rPr>
              <a:t>인도 핀테크 유니콘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36024" y="2560320"/>
            <a:ext cx="2377440" cy="36576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36024" y="27432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Malgun Gothic"/>
              </a:rPr>
              <a:t>✓  전환율 +52%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36024" y="3456432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C95B0"/>
                </a:solidFill>
                <a:latin typeface="Malgun Gothic"/>
              </a:rPr>
              <a:t>✓  LTV 2.1배 증가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36024" y="4169664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C95B0"/>
                </a:solidFill>
                <a:latin typeface="Malgun Gothic"/>
              </a:rPr>
              <a:t>✓  AI 예측 정확도 91%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algun Gothic"/>
              </a:rPr>
              <a:t>도입 효과 &amp; ROI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C95B0"/>
                </a:solidFill>
                <a:latin typeface="Malgun Gothic"/>
              </a:rPr>
              <a:t>CleverTap 도입 후 평균 성과 — 수치로 증명된 임팩트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8C95B0"/>
                </a:solidFill>
                <a:latin typeface="Malgun Gothic"/>
              </a:rPr>
              <a:t>12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45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6B35"/>
                </a:solidFill>
                <a:latin typeface="Malgun Gothic"/>
              </a:rPr>
              <a:t>CleverTap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C95B0"/>
                </a:solidFill>
                <a:latin typeface="Malgun Gothic"/>
              </a:rPr>
              <a:t>clevertap.com  |  korea@clevertap.com  |  © 2026 CleverTap Inc.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417320"/>
            <a:ext cx="3657600" cy="2194560"/>
          </a:xfrm>
          <a:prstGeom prst="roundRect">
            <a:avLst>
              <a:gd name="adj" fmla="val 5000"/>
            </a:avLst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417320"/>
            <a:ext cx="365760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15544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6B35"/>
                </a:solidFill>
                <a:latin typeface="Malgun Gothic"/>
              </a:rPr>
              <a:t>3.5배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4048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algun Gothic"/>
              </a:rPr>
              <a:t>마케팅 ROI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3464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C95B0"/>
                </a:solidFill>
                <a:latin typeface="Malgun Gothic"/>
              </a:rPr>
              <a:t>도입 6개월 내 달성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0832" y="1417320"/>
            <a:ext cx="3657600" cy="2194560"/>
          </a:xfrm>
          <a:prstGeom prst="roundRect">
            <a:avLst>
              <a:gd name="adj" fmla="val 5000"/>
            </a:avLst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70832" y="1417320"/>
            <a:ext cx="3657600" cy="64008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9432" y="15544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0C985"/>
                </a:solidFill>
                <a:latin typeface="Malgun Gothic"/>
              </a:rPr>
              <a:t>+42%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24048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algun Gothic"/>
              </a:rPr>
              <a:t>고객 리텐션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9432" y="283464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C95B0"/>
                </a:solidFill>
                <a:latin typeface="Malgun Gothic"/>
              </a:rPr>
              <a:t>이탈률 평균 42% 감소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84464" y="1417320"/>
            <a:ext cx="3657600" cy="2194560"/>
          </a:xfrm>
          <a:prstGeom prst="roundRect">
            <a:avLst>
              <a:gd name="adj" fmla="val 5000"/>
            </a:avLst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84464" y="1417320"/>
            <a:ext cx="365760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13064" y="155448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6B35"/>
                </a:solidFill>
                <a:latin typeface="Malgun Gothic"/>
              </a:rPr>
              <a:t>60%↓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13064" y="240487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algun Gothic"/>
              </a:rPr>
              <a:t>캠페인 운영 비용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13064" y="283464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C95B0"/>
                </a:solidFill>
                <a:latin typeface="Malgun Gothic"/>
              </a:rPr>
              <a:t>자동화로 인건비 절감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886200"/>
            <a:ext cx="3657600" cy="2194560"/>
          </a:xfrm>
          <a:prstGeom prst="roundRect">
            <a:avLst>
              <a:gd name="adj" fmla="val 5000"/>
            </a:avLst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886200"/>
            <a:ext cx="3657600" cy="64008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40233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0C985"/>
                </a:solidFill>
                <a:latin typeface="Malgun Gothic"/>
              </a:rPr>
              <a:t>+35%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487375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algun Gothic"/>
              </a:rPr>
              <a:t>전환율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3035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C95B0"/>
                </a:solidFill>
                <a:latin typeface="Malgun Gothic"/>
              </a:rPr>
              <a:t>개인화 메시징 효과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70832" y="3886200"/>
            <a:ext cx="3657600" cy="2194560"/>
          </a:xfrm>
          <a:prstGeom prst="roundRect">
            <a:avLst>
              <a:gd name="adj" fmla="val 5000"/>
            </a:avLst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70832" y="3886200"/>
            <a:ext cx="365760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9432" y="40233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FF6B35"/>
                </a:solidFill>
                <a:latin typeface="Malgun Gothic"/>
              </a:rPr>
              <a:t>2.5배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9432" y="487375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algun Gothic"/>
              </a:rPr>
              <a:t>고객 평생 가치 (LTV)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99432" y="53035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C95B0"/>
                </a:solidFill>
                <a:latin typeface="Malgun Gothic"/>
              </a:rPr>
              <a:t>데이터 기반 업셀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84464" y="3886200"/>
            <a:ext cx="3657600" cy="2194560"/>
          </a:xfrm>
          <a:prstGeom prst="roundRect">
            <a:avLst>
              <a:gd name="adj" fmla="val 5000"/>
            </a:avLst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284464" y="3886200"/>
            <a:ext cx="3657600" cy="64008"/>
          </a:xfrm>
          <a:prstGeom prst="rect">
            <a:avLst/>
          </a:prstGeom>
          <a:solidFill>
            <a:srgbClr val="00C9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513064" y="40233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00C985"/>
                </a:solidFill>
                <a:latin typeface="Malgun Gothic"/>
              </a:rPr>
              <a:t>91%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13064" y="4873752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algun Gothic"/>
              </a:rPr>
              <a:t>AI 예측 정확도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13064" y="530352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C95B0"/>
                </a:solidFill>
                <a:latin typeface="Malgun Gothic"/>
              </a:rPr>
              <a:t>이탈 예측 모델 기준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algun Gothic"/>
              </a:rPr>
              <a:t>요금제 &amp; 도입 절차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C95B0"/>
                </a:solidFill>
                <a:latin typeface="Malgun Gothic"/>
              </a:rPr>
              <a:t>비즈니스 규모에 맞는 유연한 플랜으로 시작하세요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8C95B0"/>
                </a:solidFill>
                <a:latin typeface="Malgun Gothic"/>
              </a:rPr>
              <a:t>13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45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6B35"/>
                </a:solidFill>
                <a:latin typeface="Malgun Gothic"/>
              </a:rPr>
              <a:t>CleverTap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C95B0"/>
                </a:solidFill>
                <a:latin typeface="Malgun Gothic"/>
              </a:rPr>
              <a:t>clevertap.com  |  korea@clevertap.com  |  © 2026 CleverTap Inc.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417320"/>
            <a:ext cx="3703320" cy="3200400"/>
          </a:xfrm>
          <a:prstGeom prst="roundRect">
            <a:avLst>
              <a:gd name="adj" fmla="val 5000"/>
            </a:avLst>
          </a:prstGeom>
          <a:solidFill>
            <a:srgbClr val="2A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572768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algun Gothic"/>
              </a:rPr>
              <a:t>Essentials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1488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C95B0"/>
                </a:solidFill>
                <a:latin typeface="Malgun Gothic"/>
              </a:rPr>
              <a:t>스타트업·MAU 50만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60604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algun Gothic"/>
              </a:rPr>
              <a:t>✓  핵심 분석 기능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10896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algun Gothic"/>
              </a:rPr>
              <a:t>✓  Push + Email 발송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1188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algun Gothic"/>
              </a:rPr>
              <a:t>✓  기본 세그멘테이션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11480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algun Gothic"/>
              </a:rPr>
              <a:t>✓  이메일 지원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0" y="1417320"/>
            <a:ext cx="3703320" cy="3200400"/>
          </a:xfrm>
          <a:prstGeom prst="roundRect">
            <a:avLst>
              <a:gd name="adj" fmla="val 5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14630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A1F36"/>
                </a:solidFill>
                <a:latin typeface="Malgun Gothic"/>
              </a:rPr>
              <a:t>★ 추천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1801368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F36"/>
                </a:solidFill>
                <a:latin typeface="Malgun Gothic"/>
              </a:rPr>
              <a:t>Advanced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3774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11F"/>
                </a:solidFill>
                <a:latin typeface="Malgun Gothic"/>
              </a:rPr>
              <a:t>Mid-Market·MAU 500만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83464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11F"/>
                </a:solidFill>
                <a:latin typeface="Malgun Gothic"/>
              </a:rPr>
              <a:t>✓  Essentials 전체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33756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11F"/>
                </a:solidFill>
                <a:latin typeface="Malgun Gothic"/>
              </a:rPr>
              <a:t>✓  AI 예측 세그먼트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84048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11F"/>
                </a:solidFill>
                <a:latin typeface="Malgun Gothic"/>
              </a:rPr>
              <a:t>✓  멀티채널 전체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34340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D111F"/>
                </a:solidFill>
                <a:latin typeface="Malgun Gothic"/>
              </a:rPr>
              <a:t>✓  전담 CSM 배정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1417320"/>
            <a:ext cx="3703320" cy="3200400"/>
          </a:xfrm>
          <a:prstGeom prst="roundRect">
            <a:avLst>
              <a:gd name="adj" fmla="val 5000"/>
            </a:avLst>
          </a:prstGeom>
          <a:solidFill>
            <a:srgbClr val="2A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1572768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Malgun Gothic"/>
              </a:rPr>
              <a:t>Enterprise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14884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C95B0"/>
                </a:solidFill>
                <a:latin typeface="Malgun Gothic"/>
              </a:rPr>
              <a:t>대기업·무제한 MAU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60604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algun Gothic"/>
              </a:rPr>
              <a:t>✓  Advanced 전체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10896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algun Gothic"/>
              </a:rPr>
              <a:t>✓  커스텀 SLA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61188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algun Gothic"/>
              </a:rPr>
              <a:t>✓  온프레미스 옵션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114800"/>
            <a:ext cx="3291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Malgun Gothic"/>
              </a:rPr>
              <a:t>✓  24/7 전용 지원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4846320"/>
            <a:ext cx="12188952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9377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35"/>
                </a:solidFill>
                <a:latin typeface="Malgun Gothic"/>
              </a:rPr>
              <a:t>온보딩 4단계 프로세스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5440680"/>
            <a:ext cx="2743200" cy="1005840"/>
          </a:xfrm>
          <a:prstGeom prst="roundRect">
            <a:avLst>
              <a:gd name="adj" fmla="val 5000"/>
            </a:avLst>
          </a:prstGeom>
          <a:solidFill>
            <a:srgbClr val="2A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4360" y="54864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6B35"/>
                </a:solidFill>
                <a:latin typeface="Malgun Gothic"/>
              </a:rPr>
              <a:t>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50468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킥오프 미팅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58978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C95B0"/>
                </a:solidFill>
                <a:latin typeface="Malgun Gothic"/>
              </a:rPr>
              <a:t>목표 &amp; KPI 설정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29000" y="5440680"/>
            <a:ext cx="2743200" cy="1005840"/>
          </a:xfrm>
          <a:prstGeom prst="roundRect">
            <a:avLst>
              <a:gd name="adj" fmla="val 5000"/>
            </a:avLst>
          </a:prstGeom>
          <a:solidFill>
            <a:srgbClr val="2A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66160" y="54864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6B35"/>
                </a:solidFill>
                <a:latin typeface="Malgun Gothic"/>
              </a:rPr>
              <a:t>02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023360" y="550468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SDK 연동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023360" y="58978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C95B0"/>
                </a:solidFill>
                <a:latin typeface="Malgun Gothic"/>
              </a:rPr>
              <a:t>기술 팀 지원 포함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5440680"/>
            <a:ext cx="2743200" cy="1005840"/>
          </a:xfrm>
          <a:prstGeom prst="roundRect">
            <a:avLst>
              <a:gd name="adj" fmla="val 5000"/>
            </a:avLst>
          </a:prstGeom>
          <a:solidFill>
            <a:srgbClr val="2A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37960" y="54864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6B35"/>
                </a:solidFill>
                <a:latin typeface="Malgun Gothic"/>
              </a:rPr>
              <a:t>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95160" y="550468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세그먼트 설정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95160" y="58978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C95B0"/>
                </a:solidFill>
                <a:latin typeface="Malgun Gothic"/>
              </a:rPr>
              <a:t>초기 캠페인 구성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372600" y="5440680"/>
            <a:ext cx="2743200" cy="1005840"/>
          </a:xfrm>
          <a:prstGeom prst="roundRect">
            <a:avLst>
              <a:gd name="adj" fmla="val 5000"/>
            </a:avLst>
          </a:prstGeom>
          <a:solidFill>
            <a:srgbClr val="2A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509760" y="5486400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6B35"/>
                </a:solidFill>
                <a:latin typeface="Malgun Gothic"/>
              </a:rPr>
              <a:t>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6960" y="5504688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성과 리뷰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6960" y="58978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C95B0"/>
                </a:solidFill>
                <a:latin typeface="Malgun Gothic"/>
              </a:rPr>
              <a:t>2주 후 파일럿 결과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88720"/>
            <a:ext cx="12188952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"/>
            <a:ext cx="9144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Malgun Gothic"/>
              </a:rPr>
              <a:t>Why CleverTap?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49808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C95B0"/>
                </a:solidFill>
                <a:latin typeface="Malgun Gothic"/>
              </a:rPr>
              <a:t>경쟁사 대비 CleverTap만의 차별화된 강점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457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8C95B0"/>
                </a:solidFill>
                <a:latin typeface="Malgun Gothic"/>
              </a:rPr>
              <a:t>14 /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45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6B35"/>
                </a:solidFill>
                <a:latin typeface="Malgun Gothic"/>
              </a:rPr>
              <a:t>CleverTap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D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601968"/>
            <a:ext cx="11430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C95B0"/>
                </a:solidFill>
                <a:latin typeface="Malgun Gothic"/>
              </a:rPr>
              <a:t>clevertap.com  |  korea@clevertap.com  |  © 2026 CleverTap Inc.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417320"/>
            <a:ext cx="3108960" cy="502920"/>
          </a:xfrm>
          <a:prstGeom prst="roundRect">
            <a:avLst>
              <a:gd name="adj" fmla="val 5000"/>
            </a:avLst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444752"/>
            <a:ext cx="3063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1A1F36"/>
                </a:solidFill>
                <a:latin typeface="Malgun Gothic"/>
              </a:rPr>
              <a:t>기능 / 항목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1417320"/>
            <a:ext cx="1920240" cy="502920"/>
          </a:xfrm>
          <a:prstGeom prst="roundRect">
            <a:avLst>
              <a:gd name="adj" fmla="val 5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1444752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algun Gothic"/>
              </a:rPr>
              <a:t>CleverTap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1417320"/>
            <a:ext cx="1920240" cy="502920"/>
          </a:xfrm>
          <a:prstGeom prst="roundRect">
            <a:avLst>
              <a:gd name="adj" fmla="val 5000"/>
            </a:avLst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1444752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algun Gothic"/>
              </a:rPr>
              <a:t>Braze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1417320"/>
            <a:ext cx="1920240" cy="502920"/>
          </a:xfrm>
          <a:prstGeom prst="roundRect">
            <a:avLst>
              <a:gd name="adj" fmla="val 5000"/>
            </a:avLst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0" y="1444752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algun Gothic"/>
              </a:rPr>
              <a:t>MoEngage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0" y="1417320"/>
            <a:ext cx="1920240" cy="502920"/>
          </a:xfrm>
          <a:prstGeom prst="roundRect">
            <a:avLst>
              <a:gd name="adj" fmla="val 5000"/>
            </a:avLst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0" y="1444752"/>
            <a:ext cx="1874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Malgun Gothic"/>
              </a:rPr>
              <a:t>Amplitude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1993392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13055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F36"/>
                </a:solidFill>
                <a:latin typeface="Malgun Gothic"/>
              </a:rPr>
              <a:t>통합 플랫폼 (올인원)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566160" y="1993392"/>
            <a:ext cx="1920240" cy="713232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0" y="213055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B35"/>
                </a:solidFill>
                <a:latin typeface="Malgun Gothic"/>
              </a:rP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0" y="213055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F36"/>
                </a:solidFill>
                <a:latin typeface="Malgun Gothic"/>
              </a:rPr>
              <a:t>⚠ 부분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0" y="213055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F36"/>
                </a:solidFill>
                <a:latin typeface="Malgun Gothic"/>
              </a:rPr>
              <a:t>⚠ 부분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213055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F36"/>
                </a:solidFill>
                <a:latin typeface="Malgun Gothic"/>
              </a:rPr>
              <a:t>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2743200"/>
            <a:ext cx="11430000" cy="713232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28803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F36"/>
                </a:solidFill>
                <a:latin typeface="Malgun Gothic"/>
              </a:rPr>
              <a:t>실시간 세그멘테이션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566160" y="2743200"/>
            <a:ext cx="1920240" cy="713232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0" y="28803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B35"/>
                </a:solidFill>
                <a:latin typeface="Malgun Gothic"/>
              </a:rPr>
              <a:t>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0" y="28803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F36"/>
                </a:solidFill>
                <a:latin typeface="Malgun Gothic"/>
              </a:rPr>
              <a:t>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28803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F36"/>
                </a:solidFill>
                <a:latin typeface="Malgun Gothic"/>
              </a:rPr>
              <a:t>✅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28803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F36"/>
                </a:solidFill>
                <a:latin typeface="Malgun Gothic"/>
              </a:rPr>
              <a:t>⚠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493008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363016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F36"/>
                </a:solidFill>
                <a:latin typeface="Malgun Gothic"/>
              </a:rPr>
              <a:t>AI/ML 예측 분석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566160" y="3493008"/>
            <a:ext cx="1920240" cy="713232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0" y="36301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B35"/>
                </a:solidFill>
                <a:latin typeface="Malgun Gothic"/>
              </a:rPr>
              <a:t>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0" y="36301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F36"/>
                </a:solidFill>
                <a:latin typeface="Malgun Gothic"/>
              </a:rPr>
              <a:t>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80960" y="36301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F36"/>
                </a:solidFill>
                <a:latin typeface="Malgun Gothic"/>
              </a:rPr>
              <a:t>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36301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F36"/>
                </a:solidFill>
                <a:latin typeface="Malgun Gothic"/>
              </a:rPr>
              <a:t>❌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242816"/>
            <a:ext cx="11430000" cy="713232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437997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F36"/>
                </a:solidFill>
                <a:latin typeface="Malgun Gothic"/>
              </a:rPr>
              <a:t>한국어 &amp; 현지 지원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566160" y="4242816"/>
            <a:ext cx="1920240" cy="713232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0" y="437997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B35"/>
                </a:solidFill>
                <a:latin typeface="Malgun Gothic"/>
              </a:rPr>
              <a:t>✅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0" y="437997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F36"/>
                </a:solidFill>
                <a:latin typeface="Malgun Gothic"/>
              </a:rPr>
              <a:t>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80960" y="437997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F36"/>
                </a:solidFill>
                <a:latin typeface="Malgun Gothic"/>
              </a:rPr>
              <a:t>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92640" y="437997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F36"/>
                </a:solidFill>
                <a:latin typeface="Malgun Gothic"/>
              </a:rPr>
              <a:t>❌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992624"/>
            <a:ext cx="114300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512978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F36"/>
                </a:solidFill>
                <a:latin typeface="Malgun Gothic"/>
              </a:rPr>
              <a:t>가격 경쟁력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566160" y="4992624"/>
            <a:ext cx="1920240" cy="713232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0" y="512978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B35"/>
                </a:solidFill>
                <a:latin typeface="Malgun Gothic"/>
              </a:rPr>
              <a:t>✅ 높음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669280" y="512978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F36"/>
                </a:solidFill>
                <a:latin typeface="Malgun Gothic"/>
              </a:rPr>
              <a:t>낮음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80960" y="512978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F36"/>
                </a:solidFill>
                <a:latin typeface="Malgun Gothic"/>
              </a:rPr>
              <a:t>보통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2640" y="512978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F36"/>
                </a:solidFill>
                <a:latin typeface="Malgun Gothic"/>
              </a:rPr>
              <a:t>높음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5742431"/>
            <a:ext cx="11430000" cy="713232"/>
          </a:xfrm>
          <a:prstGeom prst="rect">
            <a:avLst/>
          </a:prstGeom>
          <a:solidFill>
            <a:srgbClr val="E8EC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02920" y="5879591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F36"/>
                </a:solidFill>
                <a:latin typeface="Malgun Gothic"/>
              </a:rPr>
              <a:t>데이터 거버넌스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566160" y="5742431"/>
            <a:ext cx="1920240" cy="713232"/>
          </a:xfrm>
          <a:prstGeom prst="rect">
            <a:avLst/>
          </a:prstGeom>
          <a:solidFill>
            <a:srgbClr val="FF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600" y="5879591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6B35"/>
                </a:solidFill>
                <a:latin typeface="Malgun Gothic"/>
              </a:rPr>
              <a:t>✅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0" y="5879591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F36"/>
                </a:solidFill>
                <a:latin typeface="Malgun Gothic"/>
              </a:rPr>
              <a:t>⚠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680960" y="5879591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F36"/>
                </a:solidFill>
                <a:latin typeface="Malgun Gothic"/>
              </a:rPr>
              <a:t>⚠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92640" y="5879591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A1F36"/>
                </a:solidFill>
                <a:latin typeface="Malgun Gothic"/>
              </a:rPr>
              <a:t>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0" y="0"/>
            <a:ext cx="39593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2A32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Malgun Gothic"/>
              </a:rPr>
              <a:t>지금 바로 시작하세요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7744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8C95B0"/>
                </a:solidFill>
                <a:latin typeface="Malgun Gothic"/>
              </a:rPr>
              <a:t>2주 무료 파일럿으로 CleverTap의 가치를 직접 확인하세요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00400"/>
            <a:ext cx="3200400" cy="685800"/>
          </a:xfrm>
          <a:prstGeom prst="roundRect">
            <a:avLst>
              <a:gd name="adj" fmla="val 5000"/>
            </a:avLst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236976"/>
            <a:ext cx="3200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</a:rPr>
              <a:t>무료 데모 신청하기  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206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C95B0"/>
                </a:solidFill>
                <a:latin typeface="Malgun Gothic"/>
              </a:rPr>
              <a:t>🌐  웹사이트: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42062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clevertap.com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92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C95B0"/>
                </a:solidFill>
                <a:latin typeface="Malgun Gothic"/>
              </a:rPr>
              <a:t>📧  이메일: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4892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korea@clevertap.com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778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C95B0"/>
                </a:solidFill>
                <a:latin typeface="Malgun Gothic"/>
              </a:rPr>
              <a:t>📞  전화: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55778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algun Gothic"/>
              </a:rPr>
              <a:t>+82-2-XXXX-XXXX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1371600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Malgun Gothic"/>
              </a:rPr>
              <a:t>무료
파일럿
2주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206240"/>
            <a:ext cx="3840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D111F"/>
                </a:solidFill>
                <a:latin typeface="Malgun Gothic"/>
              </a:rPr>
              <a:t>실제 데이터로 효과 검증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754880"/>
            <a:ext cx="3840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0D111F"/>
                </a:solidFill>
                <a:latin typeface="Malgun Gothic"/>
              </a:rPr>
              <a:t>계약 없이 시작 · 언제든 해지 가능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263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C95B0"/>
                </a:solidFill>
                <a:latin typeface="Malgun Gothic"/>
              </a:rPr>
              <a:t>CleverTap Inc.  |  clevertap.com  |  Powered by Clever.AI™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